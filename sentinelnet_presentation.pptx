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Libre Baskerville Bold" charset="1" panose="02000000000000000000"/>
      <p:regular r:id="rId34"/>
    </p:embeddedFont>
    <p:embeddedFont>
      <p:font typeface="Libre Baskerville" charset="1" panose="02000000000000000000"/>
      <p:regular r:id="rId35"/>
    </p:embeddedFont>
    <p:embeddedFont>
      <p:font typeface="Public Sans Bold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856" y="408646"/>
            <a:ext cx="1636215" cy="1636215"/>
          </a:xfrm>
          <a:custGeom>
            <a:avLst/>
            <a:gdLst/>
            <a:ahLst/>
            <a:cxnLst/>
            <a:rect r="r" b="b" t="t" l="l"/>
            <a:pathLst>
              <a:path h="1636215" w="1636215">
                <a:moveTo>
                  <a:pt x="0" y="0"/>
                </a:moveTo>
                <a:lnTo>
                  <a:pt x="1636215" y="0"/>
                </a:lnTo>
                <a:lnTo>
                  <a:pt x="1636215" y="1636215"/>
                </a:lnTo>
                <a:lnTo>
                  <a:pt x="0" y="1636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0893" y="687924"/>
            <a:ext cx="2266605" cy="1356937"/>
          </a:xfrm>
          <a:custGeom>
            <a:avLst/>
            <a:gdLst/>
            <a:ahLst/>
            <a:cxnLst/>
            <a:rect r="r" b="b" t="t" l="l"/>
            <a:pathLst>
              <a:path h="1356937" w="2266605">
                <a:moveTo>
                  <a:pt x="0" y="0"/>
                </a:moveTo>
                <a:lnTo>
                  <a:pt x="2266605" y="0"/>
                </a:lnTo>
                <a:lnTo>
                  <a:pt x="2266605" y="1356937"/>
                </a:lnTo>
                <a:lnTo>
                  <a:pt x="0" y="1356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0" t="-1323" r="0" b="-132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40480" y="2363353"/>
            <a:ext cx="10607040" cy="178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SentinelNet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40480" y="4108967"/>
            <a:ext cx="1060704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AI-POW</a:t>
            </a:r>
            <a:r>
              <a:rPr lang="en-US" sz="2100" spc="2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ERED NETWORK INTRUSION DETECTION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40480" y="5998621"/>
            <a:ext cx="3981821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</a:t>
            </a:r>
            <a:r>
              <a:rPr lang="en-US" sz="1899" strike="noStrike" u="none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erienced Data Scientist with a PhD in Computer Vision and Medical Image Processing from IIT Delhi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40480" y="4963240"/>
            <a:ext cx="3846761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MENTOR : 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Dr. N. Jagan Mohan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1329" y="5515430"/>
            <a:ext cx="2853605" cy="431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Aarifa R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Amit Yadav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Anisetty Bhavitha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Bhaskar Mekala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Bhavana Thota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Chaganti Sai Sarvani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Indhuja V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Katherine Olivia R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Khushalha Giduthuri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Krushna Shinde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Mehak Tripathi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Mohan Raaj C</a:t>
            </a:r>
          </a:p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761329" y="4963240"/>
            <a:ext cx="384676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INTERNS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0075" y="5515430"/>
            <a:ext cx="3509110" cy="431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Naga Lakshmi Durga Enugu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Omkar Marakwar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Poornitha S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Prathap V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Sai Sathwik Balabhadra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Saravanan S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Shreyanshi Srivastava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Sumithra G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Surya Sindhu Guthula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Upasana Prabhakar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Vimala Reddy Tummuru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Vitesh Bhardwaj Mallibhat</a:t>
            </a:r>
          </a:p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Yasaswita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04801" y="3741719"/>
            <a:ext cx="16882640" cy="8465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179737" y="2848158"/>
            <a:ext cx="1198056" cy="38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79732" y="3275889"/>
            <a:ext cx="1198056" cy="38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6043" y="2353851"/>
            <a:ext cx="7818314" cy="131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80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Literature Review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</a:t>
            </a: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State &amp; Research Gaps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Proposed Model (Novelty)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13881" y="2829108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813881" y="3256839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AutoShape 8" id="8"/>
          <p:cNvSpPr/>
          <p:nvPr/>
        </p:nvSpPr>
        <p:spPr>
          <a:xfrm flipV="true">
            <a:off x="804758" y="2221728"/>
            <a:ext cx="1683139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846871" y="1495292"/>
            <a:ext cx="10294322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80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28472" y="1552957"/>
            <a:ext cx="1198056" cy="38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8148" y="6152932"/>
            <a:ext cx="8955939" cy="213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80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Binary Classific</a:t>
            </a: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ation Performance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Multi-Class Cla</a:t>
            </a: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ssification</a:t>
            </a: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Performance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Comparative Analysis            </a:t>
            </a:r>
          </a:p>
          <a:p>
            <a:pPr algn="l">
              <a:lnSpc>
                <a:spcPts val="3274"/>
              </a:lnSpc>
            </a:pPr>
          </a:p>
        </p:txBody>
      </p:sp>
      <p:sp>
        <p:nvSpPr>
          <p:cNvPr name="AutoShape 12" id="12"/>
          <p:cNvSpPr/>
          <p:nvPr/>
        </p:nvSpPr>
        <p:spPr>
          <a:xfrm>
            <a:off x="779115" y="6169982"/>
            <a:ext cx="1688268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856068" y="3889524"/>
            <a:ext cx="7818314" cy="254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80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D</a:t>
            </a: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atasets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</a:t>
            </a: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Preprocessing</a:t>
            </a: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Pipeline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Model Selection &amp; Training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Evaluation Framework</a:t>
            </a:r>
          </a:p>
          <a:p>
            <a:pPr algn="l">
              <a:lnSpc>
                <a:spcPts val="327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179757" y="8052215"/>
            <a:ext cx="1198056" cy="38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6068" y="7994550"/>
            <a:ext cx="10294322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80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30400" y="8599730"/>
            <a:ext cx="1683139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813906" y="4321081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813906" y="4693432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813906" y="5065783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813906" y="5493514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6179757" y="4360067"/>
            <a:ext cx="1198056" cy="161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sz="233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08</a:t>
            </a:r>
          </a:p>
          <a:p>
            <a:pPr algn="r">
              <a:lnSpc>
                <a:spcPts val="3274"/>
              </a:lnSpc>
            </a:pPr>
            <a:r>
              <a:rPr lang="en-US" sz="233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</a:t>
            </a:r>
            <a:r>
              <a:rPr lang="en-US" sz="233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</a:t>
            </a:r>
          </a:p>
          <a:p>
            <a:pPr algn="r">
              <a:lnSpc>
                <a:spcPts val="3274"/>
              </a:lnSpc>
            </a:pPr>
            <a:r>
              <a:rPr lang="en-US" sz="233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11</a:t>
            </a:r>
          </a:p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13893" y="6626075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813893" y="6998426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813893" y="7370777"/>
            <a:ext cx="591045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953" indent="-302977" lvl="1">
              <a:lnSpc>
                <a:spcPts val="3929"/>
              </a:lnSpc>
              <a:buFont typeface="Arial"/>
              <a:buChar char="•"/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179749" y="6638728"/>
            <a:ext cx="1198056" cy="120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sz="233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13</a:t>
            </a:r>
          </a:p>
          <a:p>
            <a:pPr algn="r">
              <a:lnSpc>
                <a:spcPts val="3274"/>
              </a:lnSpc>
            </a:pPr>
            <a:r>
              <a:rPr lang="en-US" sz="233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18</a:t>
            </a:r>
          </a:p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21</a:t>
            </a:r>
          </a:p>
        </p:txBody>
      </p:sp>
      <p:sp>
        <p:nvSpPr>
          <p:cNvPr name="AutoShape 26" id="26"/>
          <p:cNvSpPr/>
          <p:nvPr/>
        </p:nvSpPr>
        <p:spPr>
          <a:xfrm>
            <a:off x="856068" y="7931401"/>
            <a:ext cx="1683139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6184091" y="8718793"/>
            <a:ext cx="1198056" cy="38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0425" y="8648665"/>
            <a:ext cx="10294322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80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Work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804758" y="9253537"/>
            <a:ext cx="1683139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79115" y="428942"/>
            <a:ext cx="1060704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Agenda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0400" y="9382125"/>
            <a:ext cx="10294322" cy="4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80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References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179757" y="9372600"/>
            <a:ext cx="1198056" cy="38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b="true" sz="233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27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6778785" y="297133"/>
            <a:ext cx="1206725" cy="722424"/>
          </a:xfrm>
          <a:custGeom>
            <a:avLst/>
            <a:gdLst/>
            <a:ahLst/>
            <a:cxnLst/>
            <a:rect r="r" b="b" t="t" l="l"/>
            <a:pathLst>
              <a:path h="722424" w="1206725">
                <a:moveTo>
                  <a:pt x="0" y="0"/>
                </a:moveTo>
                <a:lnTo>
                  <a:pt x="1206725" y="0"/>
                </a:lnTo>
                <a:lnTo>
                  <a:pt x="1206725" y="722424"/>
                </a:lnTo>
                <a:lnTo>
                  <a:pt x="0" y="722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0480" y="1320360"/>
            <a:ext cx="10607040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Introduction - The Cybersecurity Challenge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35194" y="4156182"/>
            <a:ext cx="8208566" cy="4853089"/>
            <a:chOff x="0" y="0"/>
            <a:chExt cx="10944754" cy="64707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529977"/>
              <a:ext cx="10944754" cy="4940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2952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Mo</a:t>
              </a:r>
              <a:r>
                <a:rPr lang="en-US" sz="2400" strike="noStrike" u="none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dern networks face sophisticated threats: DDoS attacks, zero-day exploits, APTs, polymorphic malware</a:t>
              </a:r>
            </a:p>
            <a:p>
              <a:pPr algn="l">
                <a:lnSpc>
                  <a:spcPts val="2952"/>
                </a:lnSpc>
              </a:pPr>
            </a:p>
            <a:p>
              <a:pPr algn="l" marL="518160" indent="-259080" lvl="1">
                <a:lnSpc>
                  <a:spcPts val="2952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Traditional signature-based systems cannot detect novel attacks</a:t>
              </a:r>
            </a:p>
            <a:p>
              <a:pPr algn="l">
                <a:lnSpc>
                  <a:spcPts val="2952"/>
                </a:lnSpc>
              </a:pPr>
            </a:p>
            <a:p>
              <a:pPr algn="l" marL="518160" indent="-259080" lvl="1">
                <a:lnSpc>
                  <a:spcPts val="2952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95-99% of network traffic is benign, making attack detection challenging</a:t>
              </a:r>
            </a:p>
            <a:p>
              <a:pPr algn="l">
                <a:lnSpc>
                  <a:spcPts val="2952"/>
                </a:lnSpc>
              </a:pP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2445474" y="0"/>
              <a:ext cx="1017718" cy="101771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445474" y="231999"/>
              <a:ext cx="1017718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463192" y="231999"/>
              <a:ext cx="3538842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The Problem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55529" y="4156182"/>
            <a:ext cx="6926618" cy="4893328"/>
            <a:chOff x="0" y="0"/>
            <a:chExt cx="9235491" cy="652443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538418"/>
              <a:ext cx="9235491" cy="4986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AI-powered Network Intrusion Detection System (NIDS)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Combines signature-based and anomaly-based detection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Real-time threat identification with automated classification</a:t>
              </a:r>
            </a:p>
            <a:p>
              <a:pPr algn="just">
                <a:lnSpc>
                  <a:spcPts val="3359"/>
                </a:lnSpc>
              </a:pP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1596696" y="0"/>
              <a:ext cx="1017718" cy="1017718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596696" y="231999"/>
              <a:ext cx="1017718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130000" y="231999"/>
              <a:ext cx="2975491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The Solution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580102" y="9633624"/>
            <a:ext cx="40540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10352" y="3259015"/>
            <a:ext cx="4353161" cy="5282962"/>
          </a:xfrm>
          <a:custGeom>
            <a:avLst/>
            <a:gdLst/>
            <a:ahLst/>
            <a:cxnLst/>
            <a:rect r="r" b="b" t="t" l="l"/>
            <a:pathLst>
              <a:path h="5282962" w="4353161">
                <a:moveTo>
                  <a:pt x="0" y="0"/>
                </a:moveTo>
                <a:lnTo>
                  <a:pt x="4353161" y="0"/>
                </a:lnTo>
                <a:lnTo>
                  <a:pt x="4353161" y="5282963"/>
                </a:lnTo>
                <a:lnTo>
                  <a:pt x="0" y="5282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40480" y="1320360"/>
            <a:ext cx="1060704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6223" y="3502537"/>
            <a:ext cx="10744979" cy="668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Automated Threat Detection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Distinguish benign traffic from malicious activities using ML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Real-Time Classification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Process network flows instantly for immediate response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Multi-Attack Recognition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Identify specific attack types (DoS, DDoS, Probe, Web attacks)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Handle Class Imbalance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Address the majority-class bias problem in intrusion data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Performance Benchmarking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Compare algorithms across accuracy, efficiency, and detection rates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0" t="-1323" r="0" b="-132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84805" y="9568845"/>
            <a:ext cx="39600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9358" y="2901194"/>
            <a:ext cx="10607040" cy="63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Core Goals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0480" y="1329885"/>
            <a:ext cx="10607040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  <a:spcBef>
                <a:spcPct val="0"/>
              </a:spcBef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Literature Review - Current State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87466" y="3808508"/>
            <a:ext cx="8632791" cy="5720286"/>
            <a:chOff x="0" y="0"/>
            <a:chExt cx="11510387" cy="762704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865588"/>
              <a:ext cx="11510387" cy="1771220"/>
              <a:chOff x="0" y="0"/>
              <a:chExt cx="2273657" cy="34987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73657" cy="349871"/>
              </a:xfrm>
              <a:custGeom>
                <a:avLst/>
                <a:gdLst/>
                <a:ahLst/>
                <a:cxnLst/>
                <a:rect r="r" b="b" t="t" l="l"/>
                <a:pathLst>
                  <a:path h="349871" w="2273657">
                    <a:moveTo>
                      <a:pt x="8968" y="0"/>
                    </a:moveTo>
                    <a:lnTo>
                      <a:pt x="2264689" y="0"/>
                    </a:lnTo>
                    <a:cubicBezTo>
                      <a:pt x="2267067" y="0"/>
                      <a:pt x="2269348" y="945"/>
                      <a:pt x="2271030" y="2627"/>
                    </a:cubicBezTo>
                    <a:cubicBezTo>
                      <a:pt x="2272712" y="4309"/>
                      <a:pt x="2273657" y="6590"/>
                      <a:pt x="2273657" y="8968"/>
                    </a:cubicBezTo>
                    <a:lnTo>
                      <a:pt x="2273657" y="340903"/>
                    </a:lnTo>
                    <a:cubicBezTo>
                      <a:pt x="2273657" y="345855"/>
                      <a:pt x="2269642" y="349871"/>
                      <a:pt x="2264689" y="349871"/>
                    </a:cubicBezTo>
                    <a:lnTo>
                      <a:pt x="8968" y="349871"/>
                    </a:lnTo>
                    <a:cubicBezTo>
                      <a:pt x="6590" y="349871"/>
                      <a:pt x="4309" y="348926"/>
                      <a:pt x="2627" y="347244"/>
                    </a:cubicBezTo>
                    <a:cubicBezTo>
                      <a:pt x="945" y="345562"/>
                      <a:pt x="0" y="343281"/>
                      <a:pt x="0" y="340903"/>
                    </a:cubicBezTo>
                    <a:lnTo>
                      <a:pt x="0" y="8968"/>
                    </a:lnTo>
                    <a:cubicBezTo>
                      <a:pt x="0" y="6590"/>
                      <a:pt x="945" y="4309"/>
                      <a:pt x="2627" y="2627"/>
                    </a:cubicBezTo>
                    <a:cubicBezTo>
                      <a:pt x="4309" y="945"/>
                      <a:pt x="6590" y="0"/>
                      <a:pt x="896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73657" cy="387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061313"/>
                    </a:solidFill>
                    <a:latin typeface="Libre Baskerville Bold"/>
                    <a:ea typeface="Libre Baskerville Bold"/>
                    <a:cs typeface="Libre Baskerville Bold"/>
                    <a:sym typeface="Libre Baskerville Bold"/>
                  </a:rPr>
                  <a:t>Early systems: </a:t>
                </a:r>
                <a:r>
                  <a:rPr lang="en-US" sz="2400">
                    <a:solidFill>
                      <a:srgbClr val="061313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Signature-based detection (effective only against known threats)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360708"/>
              <a:ext cx="11510387" cy="1771220"/>
              <a:chOff x="0" y="0"/>
              <a:chExt cx="2273657" cy="34987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73657" cy="349871"/>
              </a:xfrm>
              <a:custGeom>
                <a:avLst/>
                <a:gdLst/>
                <a:ahLst/>
                <a:cxnLst/>
                <a:rect r="r" b="b" t="t" l="l"/>
                <a:pathLst>
                  <a:path h="349871" w="2273657">
                    <a:moveTo>
                      <a:pt x="8968" y="0"/>
                    </a:moveTo>
                    <a:lnTo>
                      <a:pt x="2264689" y="0"/>
                    </a:lnTo>
                    <a:cubicBezTo>
                      <a:pt x="2267067" y="0"/>
                      <a:pt x="2269348" y="945"/>
                      <a:pt x="2271030" y="2627"/>
                    </a:cubicBezTo>
                    <a:cubicBezTo>
                      <a:pt x="2272712" y="4309"/>
                      <a:pt x="2273657" y="6590"/>
                      <a:pt x="2273657" y="8968"/>
                    </a:cubicBezTo>
                    <a:lnTo>
                      <a:pt x="2273657" y="340903"/>
                    </a:lnTo>
                    <a:cubicBezTo>
                      <a:pt x="2273657" y="345855"/>
                      <a:pt x="2269642" y="349871"/>
                      <a:pt x="2264689" y="349871"/>
                    </a:cubicBezTo>
                    <a:lnTo>
                      <a:pt x="8968" y="349871"/>
                    </a:lnTo>
                    <a:cubicBezTo>
                      <a:pt x="6590" y="349871"/>
                      <a:pt x="4309" y="348926"/>
                      <a:pt x="2627" y="347244"/>
                    </a:cubicBezTo>
                    <a:cubicBezTo>
                      <a:pt x="945" y="345562"/>
                      <a:pt x="0" y="343281"/>
                      <a:pt x="0" y="340903"/>
                    </a:cubicBezTo>
                    <a:lnTo>
                      <a:pt x="0" y="8968"/>
                    </a:lnTo>
                    <a:cubicBezTo>
                      <a:pt x="0" y="6590"/>
                      <a:pt x="945" y="4309"/>
                      <a:pt x="2627" y="2627"/>
                    </a:cubicBezTo>
                    <a:cubicBezTo>
                      <a:pt x="4309" y="945"/>
                      <a:pt x="6590" y="0"/>
                      <a:pt x="896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273657" cy="387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061313"/>
                    </a:solidFill>
                    <a:latin typeface="Libre Baskerville Bold"/>
                    <a:ea typeface="Libre Baskerville Bold"/>
                    <a:cs typeface="Libre Baskerville Bold"/>
                    <a:sym typeface="Libre Baskerville Bold"/>
                  </a:rPr>
                  <a:t>Modern approaches:</a:t>
                </a:r>
                <a:r>
                  <a:rPr lang="en-US" sz="2400">
                    <a:solidFill>
                      <a:srgbClr val="061313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 Anomaly-based detection using statistical methods and ML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5855828"/>
              <a:ext cx="11510387" cy="1771220"/>
              <a:chOff x="0" y="0"/>
              <a:chExt cx="2273657" cy="34987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273657" cy="349871"/>
              </a:xfrm>
              <a:custGeom>
                <a:avLst/>
                <a:gdLst/>
                <a:ahLst/>
                <a:cxnLst/>
                <a:rect r="r" b="b" t="t" l="l"/>
                <a:pathLst>
                  <a:path h="349871" w="2273657">
                    <a:moveTo>
                      <a:pt x="8968" y="0"/>
                    </a:moveTo>
                    <a:lnTo>
                      <a:pt x="2264689" y="0"/>
                    </a:lnTo>
                    <a:cubicBezTo>
                      <a:pt x="2267067" y="0"/>
                      <a:pt x="2269348" y="945"/>
                      <a:pt x="2271030" y="2627"/>
                    </a:cubicBezTo>
                    <a:cubicBezTo>
                      <a:pt x="2272712" y="4309"/>
                      <a:pt x="2273657" y="6590"/>
                      <a:pt x="2273657" y="8968"/>
                    </a:cubicBezTo>
                    <a:lnTo>
                      <a:pt x="2273657" y="340903"/>
                    </a:lnTo>
                    <a:cubicBezTo>
                      <a:pt x="2273657" y="345855"/>
                      <a:pt x="2269642" y="349871"/>
                      <a:pt x="2264689" y="349871"/>
                    </a:cubicBezTo>
                    <a:lnTo>
                      <a:pt x="8968" y="349871"/>
                    </a:lnTo>
                    <a:cubicBezTo>
                      <a:pt x="6590" y="349871"/>
                      <a:pt x="4309" y="348926"/>
                      <a:pt x="2627" y="347244"/>
                    </a:cubicBezTo>
                    <a:cubicBezTo>
                      <a:pt x="945" y="345562"/>
                      <a:pt x="0" y="343281"/>
                      <a:pt x="0" y="340903"/>
                    </a:cubicBezTo>
                    <a:lnTo>
                      <a:pt x="0" y="8968"/>
                    </a:lnTo>
                    <a:cubicBezTo>
                      <a:pt x="0" y="6590"/>
                      <a:pt x="945" y="4309"/>
                      <a:pt x="2627" y="2627"/>
                    </a:cubicBezTo>
                    <a:cubicBezTo>
                      <a:pt x="4309" y="945"/>
                      <a:pt x="6590" y="0"/>
                      <a:pt x="896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273657" cy="387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400">
                    <a:solidFill>
                      <a:srgbClr val="061313"/>
                    </a:solidFill>
                    <a:latin typeface="Libre Baskerville Bold"/>
                    <a:ea typeface="Libre Baskerville Bold"/>
                    <a:cs typeface="Libre Baskerville Bold"/>
                    <a:sym typeface="Libre Baskerville Bold"/>
                  </a:rPr>
                  <a:t>Current trend:</a:t>
                </a:r>
                <a:r>
                  <a:rPr lang="en-US" sz="2400">
                    <a:solidFill>
                      <a:srgbClr val="061313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 Hybrid systems combining both approaches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404532" y="-38100"/>
              <a:ext cx="5129015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Evolution of NIDS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587424" y="9568845"/>
            <a:ext cx="39076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0480" y="1329885"/>
            <a:ext cx="10607040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  <a:spcBef>
                <a:spcPct val="0"/>
              </a:spcBef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Literature Review - Current State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827605" y="3715166"/>
            <a:ext cx="8632791" cy="5835221"/>
            <a:chOff x="0" y="0"/>
            <a:chExt cx="11510387" cy="778029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1018835"/>
              <a:ext cx="11510387" cy="1771220"/>
              <a:chOff x="0" y="0"/>
              <a:chExt cx="2273657" cy="34987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73657" cy="349871"/>
              </a:xfrm>
              <a:custGeom>
                <a:avLst/>
                <a:gdLst/>
                <a:ahLst/>
                <a:cxnLst/>
                <a:rect r="r" b="b" t="t" l="l"/>
                <a:pathLst>
                  <a:path h="349871" w="2273657">
                    <a:moveTo>
                      <a:pt x="8968" y="0"/>
                    </a:moveTo>
                    <a:lnTo>
                      <a:pt x="2264689" y="0"/>
                    </a:lnTo>
                    <a:cubicBezTo>
                      <a:pt x="2267067" y="0"/>
                      <a:pt x="2269348" y="945"/>
                      <a:pt x="2271030" y="2627"/>
                    </a:cubicBezTo>
                    <a:cubicBezTo>
                      <a:pt x="2272712" y="4309"/>
                      <a:pt x="2273657" y="6590"/>
                      <a:pt x="2273657" y="8968"/>
                    </a:cubicBezTo>
                    <a:lnTo>
                      <a:pt x="2273657" y="340903"/>
                    </a:lnTo>
                    <a:cubicBezTo>
                      <a:pt x="2273657" y="345855"/>
                      <a:pt x="2269642" y="349871"/>
                      <a:pt x="2264689" y="349871"/>
                    </a:cubicBezTo>
                    <a:lnTo>
                      <a:pt x="8968" y="349871"/>
                    </a:lnTo>
                    <a:cubicBezTo>
                      <a:pt x="6590" y="349871"/>
                      <a:pt x="4309" y="348926"/>
                      <a:pt x="2627" y="347244"/>
                    </a:cubicBezTo>
                    <a:cubicBezTo>
                      <a:pt x="945" y="345562"/>
                      <a:pt x="0" y="343281"/>
                      <a:pt x="0" y="340903"/>
                    </a:cubicBezTo>
                    <a:lnTo>
                      <a:pt x="0" y="8968"/>
                    </a:lnTo>
                    <a:cubicBezTo>
                      <a:pt x="0" y="6590"/>
                      <a:pt x="945" y="4309"/>
                      <a:pt x="2627" y="2627"/>
                    </a:cubicBezTo>
                    <a:cubicBezTo>
                      <a:pt x="4309" y="945"/>
                      <a:pt x="6590" y="0"/>
                      <a:pt x="896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73657" cy="387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sz="2400">
                    <a:solidFill>
                      <a:srgbClr val="061313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Limited evaluation on modern, realistic datasets and Class imbalance handling remains problematic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513955"/>
              <a:ext cx="11510387" cy="1771220"/>
              <a:chOff x="0" y="0"/>
              <a:chExt cx="2273657" cy="34987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73657" cy="349871"/>
              </a:xfrm>
              <a:custGeom>
                <a:avLst/>
                <a:gdLst/>
                <a:ahLst/>
                <a:cxnLst/>
                <a:rect r="r" b="b" t="t" l="l"/>
                <a:pathLst>
                  <a:path h="349871" w="2273657">
                    <a:moveTo>
                      <a:pt x="8968" y="0"/>
                    </a:moveTo>
                    <a:lnTo>
                      <a:pt x="2264689" y="0"/>
                    </a:lnTo>
                    <a:cubicBezTo>
                      <a:pt x="2267067" y="0"/>
                      <a:pt x="2269348" y="945"/>
                      <a:pt x="2271030" y="2627"/>
                    </a:cubicBezTo>
                    <a:cubicBezTo>
                      <a:pt x="2272712" y="4309"/>
                      <a:pt x="2273657" y="6590"/>
                      <a:pt x="2273657" y="8968"/>
                    </a:cubicBezTo>
                    <a:lnTo>
                      <a:pt x="2273657" y="340903"/>
                    </a:lnTo>
                    <a:cubicBezTo>
                      <a:pt x="2273657" y="345855"/>
                      <a:pt x="2269642" y="349871"/>
                      <a:pt x="2264689" y="349871"/>
                    </a:cubicBezTo>
                    <a:lnTo>
                      <a:pt x="8968" y="349871"/>
                    </a:lnTo>
                    <a:cubicBezTo>
                      <a:pt x="6590" y="349871"/>
                      <a:pt x="4309" y="348926"/>
                      <a:pt x="2627" y="347244"/>
                    </a:cubicBezTo>
                    <a:cubicBezTo>
                      <a:pt x="945" y="345562"/>
                      <a:pt x="0" y="343281"/>
                      <a:pt x="0" y="340903"/>
                    </a:cubicBezTo>
                    <a:lnTo>
                      <a:pt x="0" y="8968"/>
                    </a:lnTo>
                    <a:cubicBezTo>
                      <a:pt x="0" y="6590"/>
                      <a:pt x="945" y="4309"/>
                      <a:pt x="2627" y="2627"/>
                    </a:cubicBezTo>
                    <a:cubicBezTo>
                      <a:pt x="4309" y="945"/>
                      <a:pt x="6590" y="0"/>
                      <a:pt x="896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273657" cy="387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sz="2400">
                    <a:solidFill>
                      <a:srgbClr val="061313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Trade-off between detection accuracy and computational efficiency unclear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6009075"/>
              <a:ext cx="11510387" cy="1771220"/>
              <a:chOff x="0" y="0"/>
              <a:chExt cx="2273657" cy="34987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273657" cy="349871"/>
              </a:xfrm>
              <a:custGeom>
                <a:avLst/>
                <a:gdLst/>
                <a:ahLst/>
                <a:cxnLst/>
                <a:rect r="r" b="b" t="t" l="l"/>
                <a:pathLst>
                  <a:path h="349871" w="2273657">
                    <a:moveTo>
                      <a:pt x="8968" y="0"/>
                    </a:moveTo>
                    <a:lnTo>
                      <a:pt x="2264689" y="0"/>
                    </a:lnTo>
                    <a:cubicBezTo>
                      <a:pt x="2267067" y="0"/>
                      <a:pt x="2269348" y="945"/>
                      <a:pt x="2271030" y="2627"/>
                    </a:cubicBezTo>
                    <a:cubicBezTo>
                      <a:pt x="2272712" y="4309"/>
                      <a:pt x="2273657" y="6590"/>
                      <a:pt x="2273657" y="8968"/>
                    </a:cubicBezTo>
                    <a:lnTo>
                      <a:pt x="2273657" y="340903"/>
                    </a:lnTo>
                    <a:cubicBezTo>
                      <a:pt x="2273657" y="345855"/>
                      <a:pt x="2269642" y="349871"/>
                      <a:pt x="2264689" y="349871"/>
                    </a:cubicBezTo>
                    <a:lnTo>
                      <a:pt x="8968" y="349871"/>
                    </a:lnTo>
                    <a:cubicBezTo>
                      <a:pt x="6590" y="349871"/>
                      <a:pt x="4309" y="348926"/>
                      <a:pt x="2627" y="347244"/>
                    </a:cubicBezTo>
                    <a:cubicBezTo>
                      <a:pt x="945" y="345562"/>
                      <a:pt x="0" y="343281"/>
                      <a:pt x="0" y="340903"/>
                    </a:cubicBezTo>
                    <a:lnTo>
                      <a:pt x="0" y="8968"/>
                    </a:lnTo>
                    <a:cubicBezTo>
                      <a:pt x="0" y="6590"/>
                      <a:pt x="945" y="4309"/>
                      <a:pt x="2627" y="2627"/>
                    </a:cubicBezTo>
                    <a:cubicBezTo>
                      <a:pt x="4309" y="945"/>
                      <a:pt x="6590" y="0"/>
                      <a:pt x="896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61313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273657" cy="387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sz="2400">
                    <a:solidFill>
                      <a:srgbClr val="061313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Need for comprehensive benchmarking across multiple algorithms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943879" y="-38100"/>
              <a:ext cx="6194274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Research Gaps Identified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575994" y="9568845"/>
            <a:ext cx="4136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0480" y="1320360"/>
            <a:ext cx="1214015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Proposed Model - Novelty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225" y="2719775"/>
            <a:ext cx="5426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SentinelNet Contributions: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8841" y="3577026"/>
            <a:ext cx="16500459" cy="5839159"/>
            <a:chOff x="0" y="0"/>
            <a:chExt cx="22000612" cy="778554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6852402" y="-38100"/>
              <a:ext cx="15148210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NSL-KDD (legacy)   + CICIDS2017 (modern realistic traffic) </a:t>
              </a:r>
            </a:p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7057998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1) Dual-Dataset Evaluation: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852402" y="3190685"/>
              <a:ext cx="13535926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Logistic Regression, Decision Trees, Random Forest, Gradient Boosting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190685"/>
              <a:ext cx="5129015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3) Multi-Algorithm Comparison: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194274" y="998220"/>
              <a:ext cx="15387044" cy="2192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Strategic undersampling instead of synthetic oversampling (SMOTE avoided)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Feature correlation analysis and dimensionality optimization</a:t>
              </a:r>
            </a:p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98220"/>
              <a:ext cx="6194274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2) Comprehensive Preprocessing Pipeline: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852402" y="4950905"/>
              <a:ext cx="10517064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Binary (attack vs. normal) + Multi-class (specific attack types)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950905"/>
              <a:ext cx="5129015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4) Dual Classification Approach: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546025"/>
              <a:ext cx="5129015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5) Production-Ready Framework: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852402" y="6711125"/>
              <a:ext cx="10517064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Balances accuracy with computational efficiency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597485" y="9568845"/>
            <a:ext cx="37064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40227" y="3404623"/>
            <a:ext cx="26884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[1]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87182" y="3404623"/>
            <a:ext cx="30527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[2]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54803" y="2860751"/>
            <a:ext cx="11604497" cy="6925264"/>
          </a:xfrm>
          <a:custGeom>
            <a:avLst/>
            <a:gdLst/>
            <a:ahLst/>
            <a:cxnLst/>
            <a:rect r="r" b="b" t="t" l="l"/>
            <a:pathLst>
              <a:path h="6925264" w="11604497">
                <a:moveTo>
                  <a:pt x="0" y="0"/>
                </a:moveTo>
                <a:lnTo>
                  <a:pt x="11604497" y="0"/>
                </a:lnTo>
                <a:lnTo>
                  <a:pt x="11604497" y="6925264"/>
                </a:lnTo>
                <a:lnTo>
                  <a:pt x="0" y="6925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89328" y="949203"/>
            <a:ext cx="10607040" cy="183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Methodology - </a:t>
            </a:r>
          </a:p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Datasets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620" y="3697711"/>
            <a:ext cx="4785286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41 features, ~150K records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Attack types: DoS, Probe, U2R, R2L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Simulated legacy network traffic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 case: Algorithm comparison, academic evaluation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10881" y="3002010"/>
            <a:ext cx="10607040" cy="58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NSL-KDD Dataset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0" t="-1323" r="0" b="-132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581590" y="9568845"/>
            <a:ext cx="40243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9824115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 : NSL-KDD Dataset attack categories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93308" y="3068685"/>
            <a:ext cx="12689498" cy="6287011"/>
          </a:xfrm>
          <a:custGeom>
            <a:avLst/>
            <a:gdLst/>
            <a:ahLst/>
            <a:cxnLst/>
            <a:rect r="r" b="b" t="t" l="l"/>
            <a:pathLst>
              <a:path h="6287011" w="12689498">
                <a:moveTo>
                  <a:pt x="0" y="0"/>
                </a:moveTo>
                <a:lnTo>
                  <a:pt x="12689498" y="0"/>
                </a:lnTo>
                <a:lnTo>
                  <a:pt x="12689498" y="6287011"/>
                </a:lnTo>
                <a:lnTo>
                  <a:pt x="0" y="6287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89328" y="949203"/>
            <a:ext cx="10607040" cy="183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Methodology - </a:t>
            </a:r>
          </a:p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Datasets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986" y="3998180"/>
            <a:ext cx="4785286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78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features, &gt;2.8M records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14 contemporary a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ttack types: DDoS variants, Web attacks, Inf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ltration, Botnet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 enterprise network traffic over 5 days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 case: Production deployment testing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10881" y="3002010"/>
            <a:ext cx="10607040" cy="58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CICIDS-2017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75994" y="9568845"/>
            <a:ext cx="4136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36680" y="9568845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2 : CICIDS 2017 Dataset attack categories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637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2878" y="1615780"/>
            <a:ext cx="464570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Key Preprocessing Steps: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38480" y="2211900"/>
            <a:ext cx="7408310" cy="1307437"/>
            <a:chOff x="0" y="0"/>
            <a:chExt cx="2041520" cy="3602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1520" cy="360293"/>
            </a:xfrm>
            <a:custGeom>
              <a:avLst/>
              <a:gdLst/>
              <a:ahLst/>
              <a:cxnLst/>
              <a:rect r="r" b="b" t="t" l="l"/>
              <a:pathLst>
                <a:path h="360293" w="2041520">
                  <a:moveTo>
                    <a:pt x="10450" y="0"/>
                  </a:moveTo>
                  <a:lnTo>
                    <a:pt x="2031069" y="0"/>
                  </a:lnTo>
                  <a:cubicBezTo>
                    <a:pt x="2036841" y="0"/>
                    <a:pt x="2041520" y="4679"/>
                    <a:pt x="2041520" y="10450"/>
                  </a:cubicBezTo>
                  <a:lnTo>
                    <a:pt x="2041520" y="349842"/>
                  </a:lnTo>
                  <a:cubicBezTo>
                    <a:pt x="2041520" y="352614"/>
                    <a:pt x="2040418" y="355272"/>
                    <a:pt x="2038459" y="357232"/>
                  </a:cubicBezTo>
                  <a:cubicBezTo>
                    <a:pt x="2036499" y="359191"/>
                    <a:pt x="2033841" y="360293"/>
                    <a:pt x="2031069" y="360293"/>
                  </a:cubicBezTo>
                  <a:lnTo>
                    <a:pt x="10450" y="360293"/>
                  </a:lnTo>
                  <a:cubicBezTo>
                    <a:pt x="7679" y="360293"/>
                    <a:pt x="5021" y="359191"/>
                    <a:pt x="3061" y="357232"/>
                  </a:cubicBezTo>
                  <a:cubicBezTo>
                    <a:pt x="1101" y="355272"/>
                    <a:pt x="0" y="352614"/>
                    <a:pt x="0" y="349842"/>
                  </a:cubicBezTo>
                  <a:lnTo>
                    <a:pt x="0" y="10450"/>
                  </a:lnTo>
                  <a:cubicBezTo>
                    <a:pt x="0" y="7679"/>
                    <a:pt x="1101" y="5021"/>
                    <a:pt x="3061" y="3061"/>
                  </a:cubicBezTo>
                  <a:cubicBezTo>
                    <a:pt x="5021" y="1101"/>
                    <a:pt x="7679" y="0"/>
                    <a:pt x="10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41520" cy="398393"/>
            </a:xfrm>
            <a:prstGeom prst="rect">
              <a:avLst/>
            </a:prstGeom>
          </p:spPr>
          <p:txBody>
            <a:bodyPr anchor="ctr" rtlCol="false" tIns="48552" lIns="48552" bIns="48552" rIns="48552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Data Cleaning: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Handle missing values, remove duplicates, fix infinite values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65045" y="3469352"/>
            <a:ext cx="7408310" cy="1407408"/>
            <a:chOff x="0" y="0"/>
            <a:chExt cx="2041520" cy="3878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1520" cy="387842"/>
            </a:xfrm>
            <a:custGeom>
              <a:avLst/>
              <a:gdLst/>
              <a:ahLst/>
              <a:cxnLst/>
              <a:rect r="r" b="b" t="t" l="l"/>
              <a:pathLst>
                <a:path h="387842" w="2041520">
                  <a:moveTo>
                    <a:pt x="10450" y="0"/>
                  </a:moveTo>
                  <a:lnTo>
                    <a:pt x="2031069" y="0"/>
                  </a:lnTo>
                  <a:cubicBezTo>
                    <a:pt x="2036841" y="0"/>
                    <a:pt x="2041520" y="4679"/>
                    <a:pt x="2041520" y="10450"/>
                  </a:cubicBezTo>
                  <a:lnTo>
                    <a:pt x="2041520" y="377391"/>
                  </a:lnTo>
                  <a:cubicBezTo>
                    <a:pt x="2041520" y="380163"/>
                    <a:pt x="2040418" y="382821"/>
                    <a:pt x="2038459" y="384781"/>
                  </a:cubicBezTo>
                  <a:cubicBezTo>
                    <a:pt x="2036499" y="386741"/>
                    <a:pt x="2033841" y="387842"/>
                    <a:pt x="2031069" y="387842"/>
                  </a:cubicBezTo>
                  <a:lnTo>
                    <a:pt x="10450" y="387842"/>
                  </a:lnTo>
                  <a:cubicBezTo>
                    <a:pt x="7679" y="387842"/>
                    <a:pt x="5021" y="386741"/>
                    <a:pt x="3061" y="384781"/>
                  </a:cubicBezTo>
                  <a:cubicBezTo>
                    <a:pt x="1101" y="382821"/>
                    <a:pt x="0" y="380163"/>
                    <a:pt x="0" y="377391"/>
                  </a:cubicBezTo>
                  <a:lnTo>
                    <a:pt x="0" y="10450"/>
                  </a:lnTo>
                  <a:cubicBezTo>
                    <a:pt x="0" y="7679"/>
                    <a:pt x="1101" y="5021"/>
                    <a:pt x="3061" y="3061"/>
                  </a:cubicBezTo>
                  <a:cubicBezTo>
                    <a:pt x="5021" y="1101"/>
                    <a:pt x="7679" y="0"/>
                    <a:pt x="10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41520" cy="425942"/>
            </a:xfrm>
            <a:prstGeom prst="rect">
              <a:avLst/>
            </a:prstGeom>
          </p:spPr>
          <p:txBody>
            <a:bodyPr anchor="ctr" rtlCol="false" tIns="48552" lIns="48552" bIns="48552" rIns="48552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Feature Scaling: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Standardization (Z-score normalization) for consistent feature ranges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06894" y="4826775"/>
            <a:ext cx="7408310" cy="1307437"/>
            <a:chOff x="0" y="0"/>
            <a:chExt cx="2041520" cy="3602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1520" cy="360293"/>
            </a:xfrm>
            <a:custGeom>
              <a:avLst/>
              <a:gdLst/>
              <a:ahLst/>
              <a:cxnLst/>
              <a:rect r="r" b="b" t="t" l="l"/>
              <a:pathLst>
                <a:path h="360293" w="2041520">
                  <a:moveTo>
                    <a:pt x="10450" y="0"/>
                  </a:moveTo>
                  <a:lnTo>
                    <a:pt x="2031069" y="0"/>
                  </a:lnTo>
                  <a:cubicBezTo>
                    <a:pt x="2036841" y="0"/>
                    <a:pt x="2041520" y="4679"/>
                    <a:pt x="2041520" y="10450"/>
                  </a:cubicBezTo>
                  <a:lnTo>
                    <a:pt x="2041520" y="349842"/>
                  </a:lnTo>
                  <a:cubicBezTo>
                    <a:pt x="2041520" y="352614"/>
                    <a:pt x="2040418" y="355272"/>
                    <a:pt x="2038459" y="357232"/>
                  </a:cubicBezTo>
                  <a:cubicBezTo>
                    <a:pt x="2036499" y="359191"/>
                    <a:pt x="2033841" y="360293"/>
                    <a:pt x="2031069" y="360293"/>
                  </a:cubicBezTo>
                  <a:lnTo>
                    <a:pt x="10450" y="360293"/>
                  </a:lnTo>
                  <a:cubicBezTo>
                    <a:pt x="7679" y="360293"/>
                    <a:pt x="5021" y="359191"/>
                    <a:pt x="3061" y="357232"/>
                  </a:cubicBezTo>
                  <a:cubicBezTo>
                    <a:pt x="1101" y="355272"/>
                    <a:pt x="0" y="352614"/>
                    <a:pt x="0" y="349842"/>
                  </a:cubicBezTo>
                  <a:lnTo>
                    <a:pt x="0" y="10450"/>
                  </a:lnTo>
                  <a:cubicBezTo>
                    <a:pt x="0" y="7679"/>
                    <a:pt x="1101" y="5021"/>
                    <a:pt x="3061" y="3061"/>
                  </a:cubicBezTo>
                  <a:cubicBezTo>
                    <a:pt x="5021" y="1101"/>
                    <a:pt x="7679" y="0"/>
                    <a:pt x="10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41520" cy="398393"/>
            </a:xfrm>
            <a:prstGeom prst="rect">
              <a:avLst/>
            </a:prstGeom>
          </p:spPr>
          <p:txBody>
            <a:bodyPr anchor="ctr" rtlCol="false" tIns="48552" lIns="48552" bIns="48552" rIns="48552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Categorical Encoding: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One-hot encoding for protocols, services, flags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46836" y="6134212"/>
            <a:ext cx="7408310" cy="1307437"/>
            <a:chOff x="0" y="0"/>
            <a:chExt cx="2041520" cy="3602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1520" cy="360293"/>
            </a:xfrm>
            <a:custGeom>
              <a:avLst/>
              <a:gdLst/>
              <a:ahLst/>
              <a:cxnLst/>
              <a:rect r="r" b="b" t="t" l="l"/>
              <a:pathLst>
                <a:path h="360293" w="2041520">
                  <a:moveTo>
                    <a:pt x="10450" y="0"/>
                  </a:moveTo>
                  <a:lnTo>
                    <a:pt x="2031069" y="0"/>
                  </a:lnTo>
                  <a:cubicBezTo>
                    <a:pt x="2036841" y="0"/>
                    <a:pt x="2041520" y="4679"/>
                    <a:pt x="2041520" y="10450"/>
                  </a:cubicBezTo>
                  <a:lnTo>
                    <a:pt x="2041520" y="349842"/>
                  </a:lnTo>
                  <a:cubicBezTo>
                    <a:pt x="2041520" y="352614"/>
                    <a:pt x="2040418" y="355272"/>
                    <a:pt x="2038459" y="357232"/>
                  </a:cubicBezTo>
                  <a:cubicBezTo>
                    <a:pt x="2036499" y="359191"/>
                    <a:pt x="2033841" y="360293"/>
                    <a:pt x="2031069" y="360293"/>
                  </a:cubicBezTo>
                  <a:lnTo>
                    <a:pt x="10450" y="360293"/>
                  </a:lnTo>
                  <a:cubicBezTo>
                    <a:pt x="7679" y="360293"/>
                    <a:pt x="5021" y="359191"/>
                    <a:pt x="3061" y="357232"/>
                  </a:cubicBezTo>
                  <a:cubicBezTo>
                    <a:pt x="1101" y="355272"/>
                    <a:pt x="0" y="352614"/>
                    <a:pt x="0" y="349842"/>
                  </a:cubicBezTo>
                  <a:lnTo>
                    <a:pt x="0" y="10450"/>
                  </a:lnTo>
                  <a:cubicBezTo>
                    <a:pt x="0" y="7679"/>
                    <a:pt x="1101" y="5021"/>
                    <a:pt x="3061" y="3061"/>
                  </a:cubicBezTo>
                  <a:cubicBezTo>
                    <a:pt x="5021" y="1101"/>
                    <a:pt x="7679" y="0"/>
                    <a:pt x="10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41520" cy="398393"/>
            </a:xfrm>
            <a:prstGeom prst="rect">
              <a:avLst/>
            </a:prstGeom>
          </p:spPr>
          <p:txBody>
            <a:bodyPr anchor="ctr" rtlCol="false" tIns="48552" lIns="48552" bIns="48552" rIns="48552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Feature Selection: 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Correlation analysis (remove features with r &gt; 0.95)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77949" y="7441649"/>
            <a:ext cx="7408310" cy="1407408"/>
            <a:chOff x="0" y="0"/>
            <a:chExt cx="2041520" cy="3878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1520" cy="387842"/>
            </a:xfrm>
            <a:custGeom>
              <a:avLst/>
              <a:gdLst/>
              <a:ahLst/>
              <a:cxnLst/>
              <a:rect r="r" b="b" t="t" l="l"/>
              <a:pathLst>
                <a:path h="387842" w="2041520">
                  <a:moveTo>
                    <a:pt x="10450" y="0"/>
                  </a:moveTo>
                  <a:lnTo>
                    <a:pt x="2031069" y="0"/>
                  </a:lnTo>
                  <a:cubicBezTo>
                    <a:pt x="2036841" y="0"/>
                    <a:pt x="2041520" y="4679"/>
                    <a:pt x="2041520" y="10450"/>
                  </a:cubicBezTo>
                  <a:lnTo>
                    <a:pt x="2041520" y="377391"/>
                  </a:lnTo>
                  <a:cubicBezTo>
                    <a:pt x="2041520" y="380163"/>
                    <a:pt x="2040418" y="382821"/>
                    <a:pt x="2038459" y="384781"/>
                  </a:cubicBezTo>
                  <a:cubicBezTo>
                    <a:pt x="2036499" y="386741"/>
                    <a:pt x="2033841" y="387842"/>
                    <a:pt x="2031069" y="387842"/>
                  </a:cubicBezTo>
                  <a:lnTo>
                    <a:pt x="10450" y="387842"/>
                  </a:lnTo>
                  <a:cubicBezTo>
                    <a:pt x="7679" y="387842"/>
                    <a:pt x="5021" y="386741"/>
                    <a:pt x="3061" y="384781"/>
                  </a:cubicBezTo>
                  <a:cubicBezTo>
                    <a:pt x="1101" y="382821"/>
                    <a:pt x="0" y="380163"/>
                    <a:pt x="0" y="377391"/>
                  </a:cubicBezTo>
                  <a:lnTo>
                    <a:pt x="0" y="10450"/>
                  </a:lnTo>
                  <a:cubicBezTo>
                    <a:pt x="0" y="7679"/>
                    <a:pt x="1101" y="5021"/>
                    <a:pt x="3061" y="3061"/>
                  </a:cubicBezTo>
                  <a:cubicBezTo>
                    <a:pt x="5021" y="1101"/>
                    <a:pt x="7679" y="0"/>
                    <a:pt x="10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41520" cy="425942"/>
            </a:xfrm>
            <a:prstGeom prst="rect">
              <a:avLst/>
            </a:prstGeom>
          </p:spPr>
          <p:txBody>
            <a:bodyPr anchor="ctr" rtlCol="false" tIns="48552" lIns="48552" bIns="48552" rIns="48552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Class Imbalance Handling: 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Strategic undersampling of majority class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50990" y="8849057"/>
            <a:ext cx="7408310" cy="1407408"/>
            <a:chOff x="0" y="0"/>
            <a:chExt cx="2041520" cy="3878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41520" cy="387842"/>
            </a:xfrm>
            <a:custGeom>
              <a:avLst/>
              <a:gdLst/>
              <a:ahLst/>
              <a:cxnLst/>
              <a:rect r="r" b="b" t="t" l="l"/>
              <a:pathLst>
                <a:path h="387842" w="2041520">
                  <a:moveTo>
                    <a:pt x="10450" y="0"/>
                  </a:moveTo>
                  <a:lnTo>
                    <a:pt x="2031069" y="0"/>
                  </a:lnTo>
                  <a:cubicBezTo>
                    <a:pt x="2036841" y="0"/>
                    <a:pt x="2041520" y="4679"/>
                    <a:pt x="2041520" y="10450"/>
                  </a:cubicBezTo>
                  <a:lnTo>
                    <a:pt x="2041520" y="377391"/>
                  </a:lnTo>
                  <a:cubicBezTo>
                    <a:pt x="2041520" y="380163"/>
                    <a:pt x="2040418" y="382821"/>
                    <a:pt x="2038459" y="384781"/>
                  </a:cubicBezTo>
                  <a:cubicBezTo>
                    <a:pt x="2036499" y="386741"/>
                    <a:pt x="2033841" y="387842"/>
                    <a:pt x="2031069" y="387842"/>
                  </a:cubicBezTo>
                  <a:lnTo>
                    <a:pt x="10450" y="387842"/>
                  </a:lnTo>
                  <a:cubicBezTo>
                    <a:pt x="7679" y="387842"/>
                    <a:pt x="5021" y="386741"/>
                    <a:pt x="3061" y="384781"/>
                  </a:cubicBezTo>
                  <a:cubicBezTo>
                    <a:pt x="1101" y="382821"/>
                    <a:pt x="0" y="380163"/>
                    <a:pt x="0" y="377391"/>
                  </a:cubicBezTo>
                  <a:lnTo>
                    <a:pt x="0" y="10450"/>
                  </a:lnTo>
                  <a:cubicBezTo>
                    <a:pt x="0" y="7679"/>
                    <a:pt x="1101" y="5021"/>
                    <a:pt x="3061" y="3061"/>
                  </a:cubicBezTo>
                  <a:cubicBezTo>
                    <a:pt x="5021" y="1101"/>
                    <a:pt x="7679" y="0"/>
                    <a:pt x="10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6131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41520" cy="425942"/>
            </a:xfrm>
            <a:prstGeom prst="rect">
              <a:avLst/>
            </a:prstGeom>
          </p:spPr>
          <p:txBody>
            <a:bodyPr anchor="ctr" rtlCol="false" tIns="48552" lIns="48552" bIns="48552" rIns="48552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Train-Test Split: 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70-15-15 stratified split maintaining class distributions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978583" y="111125"/>
            <a:ext cx="10607040" cy="173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Methodology - </a:t>
            </a:r>
          </a:p>
          <a:p>
            <a:pPr algn="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Preprocessing Pipeline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05998" y="9568845"/>
            <a:ext cx="35361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4288" y="421664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699654" y="2533308"/>
            <a:ext cx="0" cy="6806796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297522" y="2533308"/>
            <a:ext cx="0" cy="6806796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895391" y="2533308"/>
            <a:ext cx="0" cy="6806796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679188" y="201883"/>
            <a:ext cx="5802029" cy="173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Methodology - </a:t>
            </a:r>
          </a:p>
          <a:p>
            <a:pPr algn="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Selection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46837" y="9568845"/>
            <a:ext cx="27193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148" y="1619124"/>
            <a:ext cx="10607040" cy="59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Algorithms Evaluated</a:t>
            </a:r>
          </a:p>
          <a:p>
            <a:pPr algn="ctr">
              <a:lnSpc>
                <a:spcPts val="94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-615812" y="2581894"/>
            <a:ext cx="5162593" cy="42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94372" y="2581894"/>
            <a:ext cx="5162593" cy="42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Type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2703" y="2581894"/>
            <a:ext cx="5162593" cy="42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Key Characteristics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1729" y="3514836"/>
            <a:ext cx="329792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ogist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ic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Regression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01729" y="4844526"/>
            <a:ext cx="47852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is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ion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Tree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1729" y="6174216"/>
            <a:ext cx="47852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Rand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om Forest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1729" y="7503906"/>
            <a:ext cx="47852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Grad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ient Boosting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04879" y="3514836"/>
            <a:ext cx="47852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inear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46781" y="4844526"/>
            <a:ext cx="47852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Non- L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inear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124" y="6174216"/>
            <a:ext cx="47852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Ensemble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12124" y="7503906"/>
            <a:ext cx="47852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Ensemble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15321" y="3484356"/>
            <a:ext cx="478528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Basel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ine, 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interpretable, fast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15321" y="4716780"/>
            <a:ext cx="338007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imple, prone 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5321" y="6459744"/>
            <a:ext cx="262236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robust,balanced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15321" y="7181628"/>
            <a:ext cx="478528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Sequential learn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ing, 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highest accuracy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5321" y="6101604"/>
            <a:ext cx="23926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Mutliple trees,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5321" y="5105400"/>
            <a:ext cx="338007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overfitting.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794372" y="1515221"/>
            <a:ext cx="5260066" cy="701612"/>
            <a:chOff x="0" y="0"/>
            <a:chExt cx="1449578" cy="1932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49578" cy="193294"/>
            </a:xfrm>
            <a:custGeom>
              <a:avLst/>
              <a:gdLst/>
              <a:ahLst/>
              <a:cxnLst/>
              <a:rect r="r" b="b" t="t" l="l"/>
              <a:pathLst>
                <a:path h="193294" w="1449578">
                  <a:moveTo>
                    <a:pt x="1449578" y="0"/>
                  </a:moveTo>
                  <a:lnTo>
                    <a:pt x="1449578" y="193294"/>
                  </a:lnTo>
                  <a:lnTo>
                    <a:pt x="0" y="193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49578" cy="231394"/>
            </a:xfrm>
            <a:prstGeom prst="rect">
              <a:avLst/>
            </a:prstGeom>
          </p:spPr>
          <p:txBody>
            <a:bodyPr anchor="ctr" rtlCol="false" tIns="48552" lIns="48552" bIns="48552" rIns="48552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97410" y="3381200"/>
            <a:ext cx="10607040" cy="5958904"/>
            <a:chOff x="0" y="0"/>
            <a:chExt cx="14142720" cy="7945205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146751"/>
              <a:ext cx="14142720" cy="59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Training Strategy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170074" y="1282785"/>
              <a:ext cx="6179113" cy="6662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Cr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oss-validation for hyperparameter tuning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</a:t>
              </a: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tratified sampling to preserve class distributions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6131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Performance metrics: Accuracy, Precision, Recall, F1-Score, Specificity, AUC</a:t>
              </a:r>
            </a:p>
            <a:p>
              <a:pPr algn="l">
                <a:lnSpc>
                  <a:spcPts val="3359"/>
                </a:lnSpc>
              </a:pP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3564649" y="0"/>
              <a:ext cx="7013421" cy="935482"/>
              <a:chOff x="0" y="0"/>
              <a:chExt cx="1449578" cy="19329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49578" cy="193294"/>
              </a:xfrm>
              <a:custGeom>
                <a:avLst/>
                <a:gdLst/>
                <a:ahLst/>
                <a:cxnLst/>
                <a:rect r="r" b="b" t="t" l="l"/>
                <a:pathLst>
                  <a:path h="193294" w="1449578">
                    <a:moveTo>
                      <a:pt x="1449578" y="0"/>
                    </a:moveTo>
                    <a:lnTo>
                      <a:pt x="1449578" y="193294"/>
                    </a:lnTo>
                    <a:lnTo>
                      <a:pt x="0" y="1932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449578" cy="231394"/>
              </a:xfrm>
              <a:prstGeom prst="rect">
                <a:avLst/>
              </a:prstGeom>
            </p:spPr>
            <p:txBody>
              <a:bodyPr anchor="ctr" rtlCol="false" tIns="48552" lIns="48552" bIns="48552" rIns="48552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</p:grpSp>
      <p:sp>
        <p:nvSpPr>
          <p:cNvPr name="TextBox 38" id="38"/>
          <p:cNvSpPr txBox="true"/>
          <p:nvPr/>
        </p:nvSpPr>
        <p:spPr>
          <a:xfrm rot="0">
            <a:off x="3522984" y="9568845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Table 1 : Evaluated Algorithms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2696" y="4637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1999" y="3015238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8"/>
                </a:lnTo>
                <a:lnTo>
                  <a:pt x="0" y="53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44558" y="277690"/>
            <a:ext cx="10607040" cy="189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Methodology - 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Evaluation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2709" y="2970746"/>
            <a:ext cx="12527335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Percentage of total predictions that are correct (both normal and attack).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1214" y="2967613"/>
            <a:ext cx="2164847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b="true" sz="263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Accuracy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2709" y="3799246"/>
            <a:ext cx="16009568" cy="91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Proportion of predicted attacks that are actually attacks (measures reliability of </a:t>
            </a:r>
          </a:p>
          <a:p>
            <a:pPr algn="l">
              <a:lnSpc>
                <a:spcPts val="3684"/>
              </a:lnSpc>
            </a:pPr>
            <a:r>
              <a:rPr lang="en-US" sz="26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positive predictions).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8829" y="3758014"/>
            <a:ext cx="2138229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b="true" sz="263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Precision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22709" y="5095875"/>
            <a:ext cx="12973314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Proportion of actual attacks correctly detected (measures detection ability).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8829" y="4624614"/>
            <a:ext cx="2323881" cy="84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431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Recall</a:t>
            </a:r>
          </a:p>
          <a:p>
            <a:pPr algn="l">
              <a:lnSpc>
                <a:spcPts val="3404"/>
              </a:lnSpc>
            </a:pPr>
            <a:r>
              <a:rPr lang="en-US" b="true" sz="243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(Sensitivity)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22709" y="5810619"/>
            <a:ext cx="11697133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Harmonic mean of precision and recall, useful for imbalanced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8829" y="5810619"/>
            <a:ext cx="3893999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b="true" sz="263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F1-Score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22709" y="6524819"/>
            <a:ext cx="9895537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Proportion of actual normal traffic correctly identified.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1214" y="6546731"/>
            <a:ext cx="2145843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b="true" sz="263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Specificity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22709" y="7177277"/>
            <a:ext cx="13102762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Evaluates model performance across thresholds by comparing TPR vs FPR.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8829" y="7279981"/>
            <a:ext cx="2157233" cy="4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b="true" sz="263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AUC-ROC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563" y="8070382"/>
            <a:ext cx="2917990" cy="91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4"/>
              </a:lnSpc>
            </a:pPr>
            <a:r>
              <a:rPr lang="en-US" sz="2631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Training </a:t>
            </a:r>
          </a:p>
          <a:p>
            <a:pPr algn="l">
              <a:lnSpc>
                <a:spcPts val="3684"/>
              </a:lnSpc>
            </a:pPr>
            <a:r>
              <a:rPr lang="en-US" b="true" sz="2631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Time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22709" y="8070382"/>
            <a:ext cx="13102762" cy="91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 required for the model to learn patterns from the training data, reflecting computational efficiency.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21999" y="3744764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7"/>
                </a:lnTo>
                <a:lnTo>
                  <a:pt x="0" y="535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21999" y="4474289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8"/>
                </a:lnTo>
                <a:lnTo>
                  <a:pt x="0" y="53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21999" y="5203815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7"/>
                </a:lnTo>
                <a:lnTo>
                  <a:pt x="0" y="535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21999" y="5933340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8"/>
                </a:lnTo>
                <a:lnTo>
                  <a:pt x="0" y="53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21999" y="6662866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7"/>
                </a:lnTo>
                <a:lnTo>
                  <a:pt x="0" y="535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21999" y="7392391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8"/>
                </a:lnTo>
                <a:lnTo>
                  <a:pt x="0" y="53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21999" y="8121917"/>
            <a:ext cx="529635" cy="535408"/>
          </a:xfrm>
          <a:custGeom>
            <a:avLst/>
            <a:gdLst/>
            <a:ahLst/>
            <a:cxnLst/>
            <a:rect r="r" b="b" t="t" l="l"/>
            <a:pathLst>
              <a:path h="535408" w="529635">
                <a:moveTo>
                  <a:pt x="0" y="0"/>
                </a:moveTo>
                <a:lnTo>
                  <a:pt x="529635" y="0"/>
                </a:lnTo>
                <a:lnTo>
                  <a:pt x="529635" y="535408"/>
                </a:lnTo>
                <a:lnTo>
                  <a:pt x="0" y="53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0" t="-1323" r="0" b="-1323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620941" y="9568845"/>
            <a:ext cx="32373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563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20941" y="9568845"/>
            <a:ext cx="32373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13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46816" y="3187260"/>
          <a:ext cx="11811878" cy="5386680"/>
        </p:xfrm>
        <a:graphic>
          <a:graphicData uri="http://schemas.openxmlformats.org/drawingml/2006/table">
            <a:tbl>
              <a:tblPr/>
              <a:tblGrid>
                <a:gridCol w="3402378"/>
                <a:gridCol w="2103874"/>
                <a:gridCol w="2112423"/>
                <a:gridCol w="2069522"/>
                <a:gridCol w="2123680"/>
              </a:tblGrid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4"/>
                        </a:lnSpc>
                        <a:defRPr/>
                      </a:pPr>
                      <a:r>
                        <a:rPr lang="en-US" b="true" sz="21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4"/>
                        </a:lnSpc>
                        <a:defRPr/>
                      </a:pPr>
                      <a:r>
                        <a:rPr lang="en-US" b="true" sz="16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TEST ACCURACY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4"/>
                        </a:lnSpc>
                        <a:defRPr/>
                      </a:pPr>
                      <a:r>
                        <a:rPr lang="en-US" b="true" sz="21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F1 - SCORE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4"/>
                        </a:lnSpc>
                        <a:defRPr/>
                      </a:pPr>
                      <a:r>
                        <a:rPr lang="en-US" b="true" sz="20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RECALL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4"/>
                        </a:lnSpc>
                        <a:defRPr/>
                      </a:pPr>
                      <a:r>
                        <a:rPr lang="en-US" b="true" sz="16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TRAINING TIME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0"/>
                        </a:lnSpc>
                        <a:defRPr/>
                      </a:pPr>
                      <a:r>
                        <a:rPr lang="en-US" b="true" sz="19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LOGISTIC REGRESSION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97.11%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96.15%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1.57S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0"/>
                        </a:lnSpc>
                        <a:defRPr/>
                      </a:pPr>
                      <a:r>
                        <a:rPr lang="en-US" b="true" sz="21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DECISION TREE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99.32%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99.54%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0.72S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b="true" sz="20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RANDOM FOREST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98.56</a:t>
                      </a: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98%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97.15%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2.73S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0"/>
                        </a:lnSpc>
                        <a:defRPr/>
                      </a:pPr>
                      <a:r>
                        <a:rPr lang="en-US" b="true" sz="18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GRADIENT BOOSTING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99.87%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99.81%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43.09S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944558" y="277690"/>
            <a:ext cx="14314742" cy="290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Results - </a:t>
            </a:r>
          </a:p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NSL-KDD Bin</a:t>
            </a: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ary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88282" y="3635953"/>
            <a:ext cx="4634335" cy="54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adient Boosting achieves best balance of accuracy (99.87%) and AUC (1.00)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All ensemble methods significantly outperform Logistic Regression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Tree fastest but lower AUC indicates poorer generalization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101929" y="2485648"/>
            <a:ext cx="10607040" cy="701612"/>
            <a:chOff x="0" y="0"/>
            <a:chExt cx="14142720" cy="9354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3564649" y="0"/>
              <a:ext cx="7013421" cy="935482"/>
              <a:chOff x="0" y="0"/>
              <a:chExt cx="1449578" cy="19329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49578" cy="193294"/>
              </a:xfrm>
              <a:custGeom>
                <a:avLst/>
                <a:gdLst/>
                <a:ahLst/>
                <a:cxnLst/>
                <a:rect r="r" b="b" t="t" l="l"/>
                <a:pathLst>
                  <a:path h="193294" w="1449578">
                    <a:moveTo>
                      <a:pt x="1449578" y="0"/>
                    </a:moveTo>
                    <a:lnTo>
                      <a:pt x="1449578" y="193294"/>
                    </a:lnTo>
                    <a:lnTo>
                      <a:pt x="0" y="1932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449578" cy="231394"/>
              </a:xfrm>
              <a:prstGeom prst="rect">
                <a:avLst/>
              </a:prstGeom>
            </p:spPr>
            <p:txBody>
              <a:bodyPr anchor="ctr" rtlCol="false" tIns="48552" lIns="48552" bIns="48552" rIns="48552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46751"/>
              <a:ext cx="14142720" cy="59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Key Findings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44558" y="9023293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Table 2 : Results of NSL-KDD Binary classification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911" y="2605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75760" y="192358"/>
            <a:ext cx="14314742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Binary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20773" y="47377"/>
            <a:ext cx="5493967" cy="4862834"/>
          </a:xfrm>
          <a:custGeom>
            <a:avLst/>
            <a:gdLst/>
            <a:ahLst/>
            <a:cxnLst/>
            <a:rect r="r" b="b" t="t" l="l"/>
            <a:pathLst>
              <a:path h="4862834" w="5493967">
                <a:moveTo>
                  <a:pt x="0" y="0"/>
                </a:moveTo>
                <a:lnTo>
                  <a:pt x="5493967" y="0"/>
                </a:lnTo>
                <a:lnTo>
                  <a:pt x="5493967" y="4862834"/>
                </a:lnTo>
                <a:lnTo>
                  <a:pt x="0" y="4862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717" y="2180681"/>
            <a:ext cx="9003283" cy="6279790"/>
          </a:xfrm>
          <a:custGeom>
            <a:avLst/>
            <a:gdLst/>
            <a:ahLst/>
            <a:cxnLst/>
            <a:rect r="r" b="b" t="t" l="l"/>
            <a:pathLst>
              <a:path h="6279790" w="9003283">
                <a:moveTo>
                  <a:pt x="0" y="0"/>
                </a:moveTo>
                <a:lnTo>
                  <a:pt x="9003283" y="0"/>
                </a:lnTo>
                <a:lnTo>
                  <a:pt x="9003283" y="6279790"/>
                </a:lnTo>
                <a:lnTo>
                  <a:pt x="0" y="6279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47456" y="4445471"/>
            <a:ext cx="8495217" cy="5587144"/>
          </a:xfrm>
          <a:custGeom>
            <a:avLst/>
            <a:gdLst/>
            <a:ahLst/>
            <a:cxnLst/>
            <a:rect r="r" b="b" t="t" l="l"/>
            <a:pathLst>
              <a:path h="5587144" w="8495217">
                <a:moveTo>
                  <a:pt x="0" y="0"/>
                </a:moveTo>
                <a:lnTo>
                  <a:pt x="8495216" y="0"/>
                </a:lnTo>
                <a:lnTo>
                  <a:pt x="8495216" y="5587144"/>
                </a:lnTo>
                <a:lnTo>
                  <a:pt x="0" y="558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40" r="0" b="-549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28347" y="9636375"/>
            <a:ext cx="31432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2749" y="8603346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3 : NSL Binary Result : ROC Curve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4402" y="10004040"/>
            <a:ext cx="10607040" cy="26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4 &amp; 5 : NSL Binary Result : Confusion matrix and model comparison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563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28263" y="9568845"/>
            <a:ext cx="3090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15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3187260"/>
          <a:ext cx="10348726" cy="5386680"/>
        </p:xfrm>
        <a:graphic>
          <a:graphicData uri="http://schemas.openxmlformats.org/drawingml/2006/table">
            <a:tbl>
              <a:tblPr/>
              <a:tblGrid>
                <a:gridCol w="2954205"/>
                <a:gridCol w="1532381"/>
                <a:gridCol w="1518778"/>
                <a:gridCol w="1459437"/>
                <a:gridCol w="1459437"/>
                <a:gridCol w="1424487"/>
              </a:tblGrid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4"/>
                        </a:lnSpc>
                        <a:defRPr/>
                      </a:pPr>
                      <a:r>
                        <a:rPr lang="en-US" b="true" sz="21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4"/>
                        </a:lnSpc>
                        <a:defRPr/>
                      </a:pPr>
                      <a:r>
                        <a:rPr lang="en-US" b="true" sz="16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TEST ACCURACY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4"/>
                        </a:lnSpc>
                        <a:defRPr/>
                      </a:pPr>
                      <a:r>
                        <a:rPr lang="en-US" b="true" sz="18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PRECISION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4"/>
                        </a:lnSpc>
                        <a:defRPr/>
                      </a:pPr>
                      <a:r>
                        <a:rPr lang="en-US" b="true" sz="19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RECALL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4"/>
                        </a:lnSpc>
                        <a:defRPr/>
                      </a:pPr>
                      <a:r>
                        <a:rPr lang="en-US" b="true" sz="19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F1 SCORE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4"/>
                        </a:lnSpc>
                        <a:defRPr/>
                      </a:pPr>
                      <a:r>
                        <a:rPr lang="en-US" b="true" sz="16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TRAINING TIME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0"/>
                        </a:lnSpc>
                        <a:defRPr/>
                      </a:pPr>
                      <a:r>
                        <a:rPr lang="en-US" b="true" sz="19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LOGISTIC REGRESSION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82.54%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60%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56%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53%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4.78S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0"/>
                        </a:lnSpc>
                        <a:defRPr/>
                      </a:pPr>
                      <a:r>
                        <a:rPr lang="en-US" b="true" sz="21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DECISION TREE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86.27%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64%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62%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1.55S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b="true" sz="20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RANDOM FOREST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86.59%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61%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64%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61%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8.04S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0"/>
                        </a:lnSpc>
                        <a:defRPr/>
                      </a:pPr>
                      <a:r>
                        <a:rPr lang="en-US" b="true" sz="18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GRADIENT BOOSTING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86.54%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65%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63%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270.39S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944558" y="277690"/>
            <a:ext cx="14314742" cy="290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Results - </a:t>
            </a:r>
          </a:p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NSL-KDD Multiclass</a:t>
            </a: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12981" y="3771013"/>
            <a:ext cx="4634335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Multi-class classification more ch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allenging (lower F1-scores vs. binary)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Gradient Boosting achieves best balanced metrics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Significant computational cost trade-off (270s vs. 1.55s for Decision Tree)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426628" y="2836454"/>
            <a:ext cx="10607040" cy="701612"/>
            <a:chOff x="0" y="0"/>
            <a:chExt cx="14142720" cy="9354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3564649" y="0"/>
              <a:ext cx="7013421" cy="935482"/>
              <a:chOff x="0" y="0"/>
              <a:chExt cx="1449578" cy="19329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49578" cy="193294"/>
              </a:xfrm>
              <a:custGeom>
                <a:avLst/>
                <a:gdLst/>
                <a:ahLst/>
                <a:cxnLst/>
                <a:rect r="r" b="b" t="t" l="l"/>
                <a:pathLst>
                  <a:path h="193294" w="1449578">
                    <a:moveTo>
                      <a:pt x="1449578" y="0"/>
                    </a:moveTo>
                    <a:lnTo>
                      <a:pt x="1449578" y="193294"/>
                    </a:lnTo>
                    <a:lnTo>
                      <a:pt x="0" y="1932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449578" cy="231394"/>
              </a:xfrm>
              <a:prstGeom prst="rect">
                <a:avLst/>
              </a:prstGeom>
            </p:spPr>
            <p:txBody>
              <a:bodyPr anchor="ctr" rtlCol="false" tIns="48552" lIns="48552" bIns="48552" rIns="48552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46751"/>
              <a:ext cx="14142720" cy="59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Key Findings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33030" y="9005953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Table 3 : Results of NSL-KDD Multi-class classification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911" y="2605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75760" y="192358"/>
            <a:ext cx="14314742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Multiclass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34914" y="1780016"/>
            <a:ext cx="9154703" cy="7209745"/>
          </a:xfrm>
          <a:custGeom>
            <a:avLst/>
            <a:gdLst/>
            <a:ahLst/>
            <a:cxnLst/>
            <a:rect r="r" b="b" t="t" l="l"/>
            <a:pathLst>
              <a:path h="7209745" w="9154703">
                <a:moveTo>
                  <a:pt x="0" y="0"/>
                </a:moveTo>
                <a:lnTo>
                  <a:pt x="9154704" y="0"/>
                </a:lnTo>
                <a:lnTo>
                  <a:pt x="9154704" y="7209745"/>
                </a:lnTo>
                <a:lnTo>
                  <a:pt x="0" y="720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6" r="-1675" b="-222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8419" y="2175203"/>
            <a:ext cx="8187806" cy="6814558"/>
          </a:xfrm>
          <a:custGeom>
            <a:avLst/>
            <a:gdLst/>
            <a:ahLst/>
            <a:cxnLst/>
            <a:rect r="r" b="b" t="t" l="l"/>
            <a:pathLst>
              <a:path h="6814558" w="8187806">
                <a:moveTo>
                  <a:pt x="0" y="0"/>
                </a:moveTo>
                <a:lnTo>
                  <a:pt x="8187806" y="0"/>
                </a:lnTo>
                <a:lnTo>
                  <a:pt x="8187806" y="6814558"/>
                </a:lnTo>
                <a:lnTo>
                  <a:pt x="0" y="681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19" r="0" b="-18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16833" y="9568845"/>
            <a:ext cx="33194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3097" y="9300243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6 : NSL Multi-class Result : Confusion matrix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94211" y="9300243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7: NSL Multi-class Result : Model Performance Comparison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911" y="2605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2129" y="1387351"/>
            <a:ext cx="8891871" cy="8618265"/>
          </a:xfrm>
          <a:custGeom>
            <a:avLst/>
            <a:gdLst/>
            <a:ahLst/>
            <a:cxnLst/>
            <a:rect r="r" b="b" t="t" l="l"/>
            <a:pathLst>
              <a:path h="8618265" w="8891871">
                <a:moveTo>
                  <a:pt x="0" y="0"/>
                </a:moveTo>
                <a:lnTo>
                  <a:pt x="8891871" y="0"/>
                </a:lnTo>
                <a:lnTo>
                  <a:pt x="8891871" y="8618265"/>
                </a:lnTo>
                <a:lnTo>
                  <a:pt x="0" y="8618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37" t="0" r="-113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10737" y="2832733"/>
            <a:ext cx="8065257" cy="5727501"/>
          </a:xfrm>
          <a:custGeom>
            <a:avLst/>
            <a:gdLst/>
            <a:ahLst/>
            <a:cxnLst/>
            <a:rect r="r" b="b" t="t" l="l"/>
            <a:pathLst>
              <a:path h="5727501" w="8065257">
                <a:moveTo>
                  <a:pt x="0" y="0"/>
                </a:moveTo>
                <a:lnTo>
                  <a:pt x="8065257" y="0"/>
                </a:lnTo>
                <a:lnTo>
                  <a:pt x="8065257" y="5727502"/>
                </a:lnTo>
                <a:lnTo>
                  <a:pt x="0" y="572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75760" y="192358"/>
            <a:ext cx="14314742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Multiclass Classification</a:t>
            </a:r>
          </a:p>
          <a:p>
            <a:pPr algn="ctr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38324" y="9568845"/>
            <a:ext cx="28896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86982" y="8662693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9: NSL Multi-class Result : ROC Curve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7696" y="9985615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8: NSL Multi-class Result : Correlation Heatmap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563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22429" y="9568845"/>
            <a:ext cx="3207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3187260"/>
          <a:ext cx="10348726" cy="5386680"/>
        </p:xfrm>
        <a:graphic>
          <a:graphicData uri="http://schemas.openxmlformats.org/drawingml/2006/table">
            <a:tbl>
              <a:tblPr/>
              <a:tblGrid>
                <a:gridCol w="2954205"/>
                <a:gridCol w="1532381"/>
                <a:gridCol w="1518778"/>
                <a:gridCol w="1459437"/>
                <a:gridCol w="1459437"/>
                <a:gridCol w="1424487"/>
              </a:tblGrid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4"/>
                        </a:lnSpc>
                        <a:defRPr/>
                      </a:pPr>
                      <a:r>
                        <a:rPr lang="en-US" b="true" sz="21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4"/>
                        </a:lnSpc>
                        <a:defRPr/>
                      </a:pPr>
                      <a:r>
                        <a:rPr lang="en-US" b="true" sz="16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TEST ACCURACY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4"/>
                        </a:lnSpc>
                        <a:defRPr/>
                      </a:pPr>
                      <a:r>
                        <a:rPr lang="en-US" b="true" sz="18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PRECISION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4"/>
                        </a:lnSpc>
                        <a:defRPr/>
                      </a:pPr>
                      <a:r>
                        <a:rPr lang="en-US" b="true" sz="19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RECALL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4"/>
                        </a:lnSpc>
                        <a:defRPr/>
                      </a:pPr>
                      <a:r>
                        <a:rPr lang="en-US" b="true" sz="19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F1 SCORE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4"/>
                        </a:lnSpc>
                        <a:defRPr/>
                      </a:pPr>
                      <a:r>
                        <a:rPr lang="en-US" b="true" sz="20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AUC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0"/>
                        </a:lnSpc>
                        <a:defRPr/>
                      </a:pPr>
                      <a:r>
                        <a:rPr lang="en-US" b="true" sz="19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LOGISTIC REGRESSION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97.04%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0.994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0"/>
                        </a:lnSpc>
                        <a:defRPr/>
                      </a:pPr>
                      <a:r>
                        <a:rPr lang="en-US" b="true" sz="21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DECISION TREE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</a:t>
                      </a: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.08%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0.996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b="true" sz="20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RANDOM FOREST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99.77%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0.999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0"/>
                        </a:lnSpc>
                        <a:defRPr/>
                      </a:pPr>
                      <a:r>
                        <a:rPr lang="en-US" b="true" sz="18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GRADIENT BOOSTING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</a:t>
                      </a: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.83%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0.999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944558" y="277690"/>
            <a:ext cx="14314742" cy="290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Results - </a:t>
            </a:r>
          </a:p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CICIDS2017 Binary</a:t>
            </a: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12981" y="3771013"/>
            <a:ext cx="4634335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Near-perfect detection on modern re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alistic traffic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Random Forest and Gradient Boosting achieve 100% precision and recall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Eve</a:t>
            </a: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 Logistic Regression performs well (97.04%), showing dataset quality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426628" y="2836454"/>
            <a:ext cx="10607040" cy="701612"/>
            <a:chOff x="0" y="0"/>
            <a:chExt cx="14142720" cy="9354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3564649" y="0"/>
              <a:ext cx="7013421" cy="935482"/>
              <a:chOff x="0" y="0"/>
              <a:chExt cx="1449578" cy="19329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49578" cy="193294"/>
              </a:xfrm>
              <a:custGeom>
                <a:avLst/>
                <a:gdLst/>
                <a:ahLst/>
                <a:cxnLst/>
                <a:rect r="r" b="b" t="t" l="l"/>
                <a:pathLst>
                  <a:path h="193294" w="1449578">
                    <a:moveTo>
                      <a:pt x="1449578" y="0"/>
                    </a:moveTo>
                    <a:lnTo>
                      <a:pt x="1449578" y="193294"/>
                    </a:lnTo>
                    <a:lnTo>
                      <a:pt x="0" y="1932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449578" cy="231394"/>
              </a:xfrm>
              <a:prstGeom prst="rect">
                <a:avLst/>
              </a:prstGeom>
            </p:spPr>
            <p:txBody>
              <a:bodyPr anchor="ctr" rtlCol="false" tIns="48552" lIns="48552" bIns="48552" rIns="48552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46751"/>
              <a:ext cx="14142720" cy="59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Key Findings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44558" y="9023293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Table 4 : Results of CICIDS 2017 Binary classification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911" y="2605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8419" y="1995122"/>
            <a:ext cx="9973028" cy="5949531"/>
          </a:xfrm>
          <a:custGeom>
            <a:avLst/>
            <a:gdLst/>
            <a:ahLst/>
            <a:cxnLst/>
            <a:rect r="r" b="b" t="t" l="l"/>
            <a:pathLst>
              <a:path h="5949531" w="9973028">
                <a:moveTo>
                  <a:pt x="0" y="0"/>
                </a:moveTo>
                <a:lnTo>
                  <a:pt x="9973028" y="0"/>
                </a:lnTo>
                <a:lnTo>
                  <a:pt x="9973028" y="5949532"/>
                </a:lnTo>
                <a:lnTo>
                  <a:pt x="0" y="5949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72642" y="2108448"/>
            <a:ext cx="7567297" cy="5836206"/>
          </a:xfrm>
          <a:custGeom>
            <a:avLst/>
            <a:gdLst/>
            <a:ahLst/>
            <a:cxnLst/>
            <a:rect r="r" b="b" t="t" l="l"/>
            <a:pathLst>
              <a:path h="5836206" w="7567297">
                <a:moveTo>
                  <a:pt x="0" y="0"/>
                </a:moveTo>
                <a:lnTo>
                  <a:pt x="7567297" y="0"/>
                </a:lnTo>
                <a:lnTo>
                  <a:pt x="7567297" y="5836206"/>
                </a:lnTo>
                <a:lnTo>
                  <a:pt x="0" y="583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48" t="0" r="-37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75760" y="192358"/>
            <a:ext cx="14314742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Binary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16833" y="9568845"/>
            <a:ext cx="33194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5607" y="8238732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10: CICDS Binary Result : Model Performance Comparison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5700" y="8238732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11: CICDS  Binary : Confusion Matrix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911" y="2605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4848" y="2460742"/>
            <a:ext cx="7409028" cy="5680658"/>
          </a:xfrm>
          <a:custGeom>
            <a:avLst/>
            <a:gdLst/>
            <a:ahLst/>
            <a:cxnLst/>
            <a:rect r="r" b="b" t="t" l="l"/>
            <a:pathLst>
              <a:path h="5680658" w="7409028">
                <a:moveTo>
                  <a:pt x="0" y="0"/>
                </a:moveTo>
                <a:lnTo>
                  <a:pt x="7409028" y="0"/>
                </a:lnTo>
                <a:lnTo>
                  <a:pt x="7409028" y="5680657"/>
                </a:lnTo>
                <a:lnTo>
                  <a:pt x="0" y="5680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54627" y="1802205"/>
            <a:ext cx="8900124" cy="7456095"/>
          </a:xfrm>
          <a:custGeom>
            <a:avLst/>
            <a:gdLst/>
            <a:ahLst/>
            <a:cxnLst/>
            <a:rect r="r" b="b" t="t" l="l"/>
            <a:pathLst>
              <a:path h="7456095" w="8900124">
                <a:moveTo>
                  <a:pt x="0" y="0"/>
                </a:moveTo>
                <a:lnTo>
                  <a:pt x="8900124" y="0"/>
                </a:lnTo>
                <a:lnTo>
                  <a:pt x="8900124" y="7456095"/>
                </a:lnTo>
                <a:lnTo>
                  <a:pt x="0" y="7456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75760" y="192358"/>
            <a:ext cx="14314742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Binary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580102" y="9568845"/>
            <a:ext cx="40540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570024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12: CICDS Binary Result : ROC Curve Comparison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8794" y="9479313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13: CICDS Binary Result : Correlation Heatmap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563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20941" y="9568845"/>
            <a:ext cx="32373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21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91649" y="3390673"/>
          <a:ext cx="10970574" cy="5386680"/>
        </p:xfrm>
        <a:graphic>
          <a:graphicData uri="http://schemas.openxmlformats.org/drawingml/2006/table">
            <a:tbl>
              <a:tblPr/>
              <a:tblGrid>
                <a:gridCol w="2935614"/>
                <a:gridCol w="1522737"/>
                <a:gridCol w="1509220"/>
                <a:gridCol w="1450253"/>
                <a:gridCol w="1450253"/>
                <a:gridCol w="2102497"/>
              </a:tblGrid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4"/>
                        </a:lnSpc>
                        <a:defRPr/>
                      </a:pPr>
                      <a:r>
                        <a:rPr lang="en-US" b="true" sz="21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4"/>
                        </a:lnSpc>
                        <a:defRPr/>
                      </a:pPr>
                      <a:r>
                        <a:rPr lang="en-US" b="true" sz="16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TEST ACCURACY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4"/>
                        </a:lnSpc>
                        <a:defRPr/>
                      </a:pPr>
                      <a:r>
                        <a:rPr lang="en-US" b="true" sz="18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PRECISION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4"/>
                        </a:lnSpc>
                        <a:defRPr/>
                      </a:pPr>
                      <a:r>
                        <a:rPr lang="en-US" b="true" sz="19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RECALL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4"/>
                        </a:lnSpc>
                        <a:defRPr/>
                      </a:pPr>
                      <a:r>
                        <a:rPr lang="en-US" b="true" sz="19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F1 SCORE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4"/>
                        </a:lnSpc>
                        <a:defRPr/>
                      </a:pPr>
                      <a:r>
                        <a:rPr lang="en-US" b="true" sz="20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TRAINING</a:t>
                      </a:r>
                      <a:endParaRPr lang="en-US" sz="1100"/>
                    </a:p>
                    <a:p>
                      <a:pPr algn="ctr">
                        <a:lnSpc>
                          <a:spcPts val="2804"/>
                        </a:lnSpc>
                      </a:pPr>
                      <a:r>
                        <a:rPr lang="en-US" b="true" sz="2003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TIME</a:t>
                      </a:r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0"/>
                        </a:lnSpc>
                        <a:defRPr/>
                      </a:pPr>
                      <a:r>
                        <a:rPr lang="en-US" b="true" sz="19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LOGISTIC REGRESSION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94.21%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76%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16.55S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0"/>
                        </a:lnSpc>
                        <a:defRPr/>
                      </a:pPr>
                      <a:r>
                        <a:rPr lang="en-US" b="true" sz="21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DECISION TREE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</a:t>
                      </a: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.41%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89%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93%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6.51S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b="true" sz="20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RANDOM FOREST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98.82%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92%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94%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91%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12.28S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7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0"/>
                        </a:lnSpc>
                        <a:defRPr/>
                      </a:pPr>
                      <a:r>
                        <a:rPr lang="en-US" b="true" sz="1857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GRADIENT BOOSTING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FB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00"/>
                        </a:lnSpc>
                        <a:defRPr/>
                      </a:pP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</a:t>
                      </a:r>
                      <a:r>
                        <a:rPr lang="en-US" b="true" sz="2357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.87%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99%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88"/>
                        </a:lnSpc>
                        <a:defRPr/>
                      </a:pPr>
                      <a:r>
                        <a:rPr lang="en-US" b="true" sz="2349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1133.07S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867">
                      <a:solidFill>
                        <a:srgbClr val="4C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944558" y="277690"/>
            <a:ext cx="14314742" cy="290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Results - </a:t>
            </a:r>
          </a:p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CICIDS Multiclass</a:t>
            </a:r>
            <a:r>
              <a:rPr lang="en-US" sz="5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12981" y="3771013"/>
            <a:ext cx="4634335" cy="54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Gradient Boosting excels at distinguishing multiple attack types (99.87% accuracy)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Tree offers strong balance (99.41% accuracy, 6.51s training)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Significant computational investment required for best performance (1133s)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426628" y="2836454"/>
            <a:ext cx="10607040" cy="701612"/>
            <a:chOff x="0" y="0"/>
            <a:chExt cx="14142720" cy="9354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3564649" y="0"/>
              <a:ext cx="7013421" cy="935482"/>
              <a:chOff x="0" y="0"/>
              <a:chExt cx="1449578" cy="19329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49578" cy="193294"/>
              </a:xfrm>
              <a:custGeom>
                <a:avLst/>
                <a:gdLst/>
                <a:ahLst/>
                <a:cxnLst/>
                <a:rect r="r" b="b" t="t" l="l"/>
                <a:pathLst>
                  <a:path h="193294" w="1449578">
                    <a:moveTo>
                      <a:pt x="1449578" y="0"/>
                    </a:moveTo>
                    <a:lnTo>
                      <a:pt x="1449578" y="193294"/>
                    </a:lnTo>
                    <a:lnTo>
                      <a:pt x="0" y="1932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449578" cy="231394"/>
              </a:xfrm>
              <a:prstGeom prst="rect">
                <a:avLst/>
              </a:prstGeom>
            </p:spPr>
            <p:txBody>
              <a:bodyPr anchor="ctr" rtlCol="false" tIns="48552" lIns="48552" bIns="48552" rIns="48552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46751"/>
              <a:ext cx="14142720" cy="59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61313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Key Findings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40399" y="9158353"/>
            <a:ext cx="10607040" cy="3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Table 5 : Results of CICIDS 2017 Multi-class classification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911" y="2605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534" y="2168734"/>
            <a:ext cx="9554622" cy="5699926"/>
          </a:xfrm>
          <a:custGeom>
            <a:avLst/>
            <a:gdLst/>
            <a:ahLst/>
            <a:cxnLst/>
            <a:rect r="r" b="b" t="t" l="l"/>
            <a:pathLst>
              <a:path h="5699926" w="9554622">
                <a:moveTo>
                  <a:pt x="0" y="0"/>
                </a:moveTo>
                <a:lnTo>
                  <a:pt x="9554622" y="0"/>
                </a:lnTo>
                <a:lnTo>
                  <a:pt x="9554622" y="5699927"/>
                </a:lnTo>
                <a:lnTo>
                  <a:pt x="0" y="5699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15396" y="1714866"/>
            <a:ext cx="7607033" cy="6339194"/>
          </a:xfrm>
          <a:custGeom>
            <a:avLst/>
            <a:gdLst/>
            <a:ahLst/>
            <a:cxnLst/>
            <a:rect r="r" b="b" t="t" l="l"/>
            <a:pathLst>
              <a:path h="6339194" w="7607033">
                <a:moveTo>
                  <a:pt x="0" y="0"/>
                </a:moveTo>
                <a:lnTo>
                  <a:pt x="7607033" y="0"/>
                </a:lnTo>
                <a:lnTo>
                  <a:pt x="7607033" y="6339195"/>
                </a:lnTo>
                <a:lnTo>
                  <a:pt x="0" y="633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75760" y="192358"/>
            <a:ext cx="14314742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MultiClass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595044" y="9568845"/>
            <a:ext cx="3755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7248" y="8658102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14: CICDS Multi Class Result : Model Performance Comparison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51263" y="8658102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15: CICDS Multi Class Result : Confusion Matrix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911" y="260545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63513" y="297133"/>
            <a:ext cx="1221997" cy="731567"/>
          </a:xfrm>
          <a:custGeom>
            <a:avLst/>
            <a:gdLst/>
            <a:ahLst/>
            <a:cxnLst/>
            <a:rect r="r" b="b" t="t" l="l"/>
            <a:pathLst>
              <a:path h="731567" w="1221997">
                <a:moveTo>
                  <a:pt x="0" y="0"/>
                </a:moveTo>
                <a:lnTo>
                  <a:pt x="1221997" y="0"/>
                </a:lnTo>
                <a:lnTo>
                  <a:pt x="1221997" y="731567"/>
                </a:lnTo>
                <a:lnTo>
                  <a:pt x="0" y="731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" t="-1323" r="0" b="-13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38259" y="1560187"/>
            <a:ext cx="10237791" cy="7270316"/>
          </a:xfrm>
          <a:custGeom>
            <a:avLst/>
            <a:gdLst/>
            <a:ahLst/>
            <a:cxnLst/>
            <a:rect r="r" b="b" t="t" l="l"/>
            <a:pathLst>
              <a:path h="7270316" w="10237791">
                <a:moveTo>
                  <a:pt x="0" y="0"/>
                </a:moveTo>
                <a:lnTo>
                  <a:pt x="10237791" y="0"/>
                </a:lnTo>
                <a:lnTo>
                  <a:pt x="10237791" y="7270316"/>
                </a:lnTo>
                <a:lnTo>
                  <a:pt x="0" y="7270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75760" y="192358"/>
            <a:ext cx="14314742" cy="18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MultiClass Classification</a:t>
            </a:r>
          </a:p>
          <a:p>
            <a:pPr algn="l">
              <a:lnSpc>
                <a:spcPts val="728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595044" y="9568845"/>
            <a:ext cx="3755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65731" y="9220200"/>
            <a:ext cx="10607040" cy="3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Fig 16: CICDS Multi Class Result : ROC Curve Comparison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5952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0998" y="784285"/>
            <a:ext cx="13511155" cy="94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sz="55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Selection 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932" y="1954611"/>
            <a:ext cx="7146489" cy="63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For Production Deployment: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889329"/>
            <a:ext cx="1132347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Random Forest</a:t>
            </a:r>
            <a:r>
              <a:rPr lang="en-US" sz="32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- Recommended for most scenarios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943" y="3503374"/>
            <a:ext cx="14908519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Excellent accuracy-spped trade-off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Robust against overfitting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Good interpretability through feature importance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Training time: Moderate (2-97 s depending on dataset size)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8932" y="5616019"/>
            <a:ext cx="167132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Gradient Boosting</a:t>
            </a:r>
            <a:r>
              <a:rPr lang="en-US" sz="32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When accuracy is paramount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943" y="6296739"/>
            <a:ext cx="14908519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Highest detection rates (99.83-99.87% on CICIDS2017)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Best for multi-class classification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Trade-off: Significantly higher training time (up to 1133s)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8932" y="7837883"/>
            <a:ext cx="167132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Decision Tree</a:t>
            </a:r>
            <a:r>
              <a:rPr lang="en-US" sz="32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For resource-constrained environments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413" y="8518603"/>
            <a:ext cx="7458789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Fastest training (0.72-15s)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Reasonable accuracy (86-99%)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Risk of overfitting on complex patterns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99747" y="9568845"/>
            <a:ext cx="36611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0480" y="1320360"/>
            <a:ext cx="10607040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0"/>
              </a:lnSpc>
              <a:spcBef>
                <a:spcPct val="0"/>
              </a:spcBef>
            </a:pPr>
            <a:r>
              <a:rPr lang="en-US" sz="61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581" y="2636499"/>
            <a:ext cx="6573798" cy="88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Key Achievements: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4994" y="3799818"/>
            <a:ext cx="18014439" cy="288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Comprehensive Evaluation:</a:t>
            </a: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Dual-dataset approach validates across legacy and modern threats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Ensemble Superiority</a:t>
            </a: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Random Forest and Gradient Boosting significantly outperform linear models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Near-Perfect Detection</a:t>
            </a: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99.8%+ accuracy on realistic modern traffic (CICIDS2017)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Practical Insights</a:t>
            </a: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Clear trade-offs identified between accuracy and computational efficiency</a:t>
            </a:r>
          </a:p>
          <a:p>
            <a:pPr algn="l">
              <a:lnSpc>
                <a:spcPts val="418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53581" y="6406012"/>
            <a:ext cx="10248019" cy="88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Contributions: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246" y="7616957"/>
            <a:ext cx="17216754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Empirical evidence for ensemble methods in NIDS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Production-ready preprocessing pipeline avoiding synthetic data generation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Performance benchmarks for practical deployment decisions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Framework applicable to enterprise security operations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02307" y="9568845"/>
            <a:ext cx="3609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0480" y="1320360"/>
            <a:ext cx="1060704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8331" y="2628265"/>
            <a:ext cx="17601458" cy="765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Research Extensions: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Deep Learning Integration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CNN/LSTM architectures for temporal pattern recognition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Automated feature extraction from raw packet data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Adversarial Robustness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Evaluation against adversarial examples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Evasion-resistant model architectures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Real-Time Deployment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Stream processing integration (Apache Kafka, Spark)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Edge computing for distributed detection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Continuous Learning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Online learning for adapting to evolving threats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Transfer learning across network environments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Explainable AI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SHAP/LIME for decision interpretation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Compliance with security audit requirements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590877" y="9568845"/>
            <a:ext cx="38385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34660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31695" y="1320360"/>
            <a:ext cx="1461303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References &amp; Acknowledgements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3271" y="2628265"/>
            <a:ext cx="17601458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65980" y="2609215"/>
            <a:ext cx="15038572" cy="684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Key Datasets: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</a:p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1. NSL-KDD Dataset: </a:t>
            </a:r>
            <a:r>
              <a:rPr lang="en-US" sz="324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https://www.unb.ca/cic/datasets/nsl.html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2.  </a:t>
            </a: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CICIDS2017 Dataset:  </a:t>
            </a:r>
            <a:r>
              <a:rPr lang="en-US" sz="324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https://www.unb.ca/cic/datasets/ids-2017.html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</a:p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Foundational Research References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</a:p>
          <a:p>
            <a:pPr algn="l" marL="700871" indent="-350436" lvl="1">
              <a:lnSpc>
                <a:spcPts val="4544"/>
              </a:lnSpc>
              <a:buFont typeface="Arial"/>
              <a:buChar char="•"/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Tavallaee et al. (2009) </a:t>
            </a:r>
            <a:r>
              <a:rPr lang="en-US" sz="324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– NSL-KDD dataset analysis.</a:t>
            </a:r>
          </a:p>
          <a:p>
            <a:pPr algn="l" marL="700871" indent="-350436" lvl="1">
              <a:lnSpc>
                <a:spcPts val="4544"/>
              </a:lnSpc>
              <a:buFont typeface="Arial"/>
              <a:buChar char="•"/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Sharafaldin et al. (2018) </a:t>
            </a:r>
            <a:r>
              <a:rPr lang="en-US" sz="324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– CICIDS2017 dataset methodology.</a:t>
            </a:r>
          </a:p>
          <a:p>
            <a:pPr algn="l" marL="700871" indent="-350436" lvl="1">
              <a:lnSpc>
                <a:spcPts val="4544"/>
              </a:lnSpc>
              <a:buFont typeface="Arial"/>
              <a:buChar char="•"/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Breiman (2001) </a:t>
            </a:r>
            <a:r>
              <a:rPr lang="en-US" sz="324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– Random Forest algorithm.</a:t>
            </a:r>
          </a:p>
          <a:p>
            <a:pPr algn="l" marL="700871" indent="-350436" lvl="1">
              <a:lnSpc>
                <a:spcPts val="4544"/>
              </a:lnSpc>
              <a:buFont typeface="Arial"/>
              <a:buChar char="•"/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Friedman (2001)</a:t>
            </a:r>
            <a:r>
              <a:rPr lang="en-US" sz="324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– Gradient Boosting Machines.</a:t>
            </a:r>
          </a:p>
          <a:p>
            <a:pPr algn="l" marL="700871" indent="-350436" lvl="1">
              <a:lnSpc>
                <a:spcPts val="4544"/>
              </a:lnSpc>
              <a:buFont typeface="Arial"/>
              <a:buChar char="•"/>
            </a:pPr>
            <a:r>
              <a:rPr lang="en-US" b="true" sz="3246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Buczak &amp; Guven (2016)</a:t>
            </a:r>
            <a:r>
              <a:rPr lang="en-US" sz="324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– ML methods for intrusion detection.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12368" y="9568845"/>
            <a:ext cx="3408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08652" y="-793466"/>
            <a:ext cx="1650648" cy="3086100"/>
            <a:chOff x="0" y="0"/>
            <a:chExt cx="43473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4738" cy="812800"/>
            </a:xfrm>
            <a:custGeom>
              <a:avLst/>
              <a:gdLst/>
              <a:ahLst/>
              <a:cxnLst/>
              <a:rect r="r" b="b" t="t" l="l"/>
              <a:pathLst>
                <a:path h="812800" w="434738">
                  <a:moveTo>
                    <a:pt x="0" y="0"/>
                  </a:moveTo>
                  <a:lnTo>
                    <a:pt x="434738" y="0"/>
                  </a:lnTo>
                  <a:lnTo>
                    <a:pt x="4347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473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99726" y="1035334"/>
            <a:ext cx="868501" cy="798652"/>
          </a:xfrm>
          <a:custGeom>
            <a:avLst/>
            <a:gdLst/>
            <a:ahLst/>
            <a:cxnLst/>
            <a:rect r="r" b="b" t="t" l="l"/>
            <a:pathLst>
              <a:path h="798652" w="868501">
                <a:moveTo>
                  <a:pt x="0" y="0"/>
                </a:moveTo>
                <a:lnTo>
                  <a:pt x="868501" y="0"/>
                </a:lnTo>
                <a:lnTo>
                  <a:pt x="868501" y="798652"/>
                </a:lnTo>
                <a:lnTo>
                  <a:pt x="0" y="798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40480" y="3183890"/>
            <a:ext cx="10607040" cy="178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The 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40480" y="4929505"/>
            <a:ext cx="1060704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3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 FOR LISTENING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96533" y="9568845"/>
            <a:ext cx="3725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DAG0ecQcWws</dc:identifier>
  <dcterms:modified xsi:type="dcterms:W3CDTF">2011-08-01T06:04:30Z</dcterms:modified>
  <cp:revision>1</cp:revision>
  <dc:title>Infosys Springboard presentation</dc:title>
</cp:coreProperties>
</file>